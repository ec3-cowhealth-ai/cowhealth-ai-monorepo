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E2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604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CowHealth AI: 12 telas mobile high-fidelity para monitoramento contínuo de bovinos. Foco em uso em campo: dark-first, contraste alto e densidade de dados controlada.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A677B-A3F5-F7B3-F61E-27B380FB6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C2B0D-7E12-36E5-2B06-BC6E7C199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3E3821-BEE7-B33A-AF60-1CC47695B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Variações do dashboard por papel, integração real do mapa, fluxo de pareamento de coleira, light mode e handoff em código.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32BB5-36AF-FF11-FB32-A27C0FBB4C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9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9EFF8-0A74-7D07-DA1B-055046A27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979C1-7437-01EB-4128-A06B6817F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C015D-B357-77BD-3055-FC32ED552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Variações do dashboard por papel, integração real do mapa, fluxo de pareamento de coleira, light mode e handoff em código.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8DA0A-6754-9169-FAE6-C6C9C6F11F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08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FE6F6-156B-18BA-8492-DCF114063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50222-7FDE-C5A6-911A-493282C2A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B0DD9-358A-8A4B-A4E9-E0B3918AA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Variações do dashboard por papel, integração real do mapa, fluxo de pareamento de coleira, light mode e handoff em código.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14D35-DFE3-84BB-84F4-90DF5B9865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96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89AFB-A965-3B23-5E24-A9F7CDD2B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13C74-17B3-E98B-02E3-B9E35D094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A61D0-2071-4E47-346A-0D51F7991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Variações do dashboard por papel, integração real do mapa, fluxo de pareamento de coleira, light mode e handoff em código.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2E5DD-88B8-61F7-5D11-77B37DF8D9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54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49670-1FF6-7EDC-0618-CACC06419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94056-5C98-558F-AE28-B0AFEE766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939A1-B628-FC12-B417-4F4F85593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Variações do dashboard por papel, integração real do mapa, fluxo de pareamento de coleira, light mode e handoff em código.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4BEB9-2BD8-5A2D-828D-FC4D422260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79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0016D-4B74-06A1-D145-2F31149D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9C2D8-8505-F991-6FBC-46295FE7D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E211D-99F8-D5ED-6C4D-B02F51608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Variações do dashboard por papel, integração real do mapa, fluxo de pareamento de coleira, light mode e handoff em código.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2E07C-E791-E9E5-B091-4EDD5E533B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696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0016D-4B74-06A1-D145-2F31149D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9C2D8-8505-F991-6FBC-46295FE7D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E211D-99F8-D5ED-6C4D-B02F51608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Variações do dashboard por papel, integração real do mapa, fluxo de pareamento de coleira, light mode e handoff em código.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2E07C-E791-E9E5-B091-4EDD5E533B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7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 em uma página. Paleta Onyx, tipografia Space Grotesk + Manrope + JetBrains Mono, e fundamentos de espaçamento. Tudo derivado da paleta enviada e dos blueprints técnicos.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1 — Acesso. Vamos começar pelo primeiro contato do usuário com o app: splash, onboarding e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Splash. Marca em escala display sobre Onyx puro. Sincronização silenciosa em background. Sem spinner para não dar sensação de espera.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Onboarding. Carrossel curto com três promessas: alerta precoce, telemetria contínua e modo offline. Termina perguntando o papel do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Login. Username e senha com inputs de 48 pixels para uso com luva. Chips de papel selecionam o perfil ativo, atendendo o requisito funcional doze.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2 — Núcleo. Dashboard, rebanho, detalhe e histórico. Esse é o caminho crítico do app, pensado em três cliques entre o sintoma e o 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Home. KPI principal no topo, alerta crítico sempre acima da dobra, atalhos rápidos e visão de pré-parto. Badge de offline com timestamp da última sincronização.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Rebanho. Lista ordenada por score de risco. Filtros por fazenda, lote e estado fisiológico. Busca por brinco, nome ou ID do colar.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Detalhe da vaca. Hero com foto e identificação. Tabs Visão Geral, Temperatura e Tabela. Gráfico com janelas de tempo e marcadores de eventos como parto e vacina.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Histórico. Tabela crua e exportável em CSV ou JSON, atendendo o requisito funcional dezenove. Indicadores semânticos por linha.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3 — Alertas e geografia. A camada que reduz o tempo de resposta no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Alertas. Inbox por severidade: crítico, atenção e info. Cada card tem ID do animal, métrica disparadora e ação primária. Swipe para arquivar.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Mapa. Pins por animal agrupados por piquete, coloridos pelo score de risco. Geofence por piquete dispara alerta quando o animal sai da área.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4 — Conta e estados. Fechando com perfil, configurações e os três estados que todo app esquece: vazio, sincronizando e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Perfil. Avatar, nome e papel profissional. Veterinário mostra CRMV. Lista de fazendas vinculadas com troca rápida.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Configurações. Notificações por severidade, modo de coleta padrão das coleiras, unidades e idioma. Sem labirintos.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Estado vazio. Quando ainda não há animais cadastrados. Ilustração leve, copy direta e CTA claro.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Sincronizando. Skeleton em vez de spinner. Mostra a estrutura do que vai aparecer.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conexão. Banner persistente, dados em cache e ação clara para tentar novamente. Atende o requisito de uso pré-parto remoto.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Variações do dashboard por papel, integração real do mapa, fluxo de pareamento de coleira, light mode e handoff em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5" Type="http://schemas.openxmlformats.org/officeDocument/2006/relationships/image" Target="../media/image21.png"/><Relationship Id="rId10" Type="http://schemas.openxmlformats.org/officeDocument/2006/relationships/image" Target="../media/image30.png"/><Relationship Id="rId4" Type="http://schemas.openxmlformats.org/officeDocument/2006/relationships/image" Target="../media/image8.png"/><Relationship Id="rId9" Type="http://schemas.openxmlformats.org/officeDocument/2006/relationships/image" Target="../media/image29.png"/><Relationship Id="rId1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3.png"/><Relationship Id="rId3" Type="http://schemas.openxmlformats.org/officeDocument/2006/relationships/image" Target="../media/image7.png"/><Relationship Id="rId7" Type="http://schemas.openxmlformats.org/officeDocument/2006/relationships/image" Target="../media/image25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1.png"/><Relationship Id="rId5" Type="http://schemas.openxmlformats.org/officeDocument/2006/relationships/image" Target="../media/image37.png"/><Relationship Id="rId15" Type="http://schemas.openxmlformats.org/officeDocument/2006/relationships/image" Target="../media/image45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40.png"/><Relationship Id="rId1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7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37.png"/><Relationship Id="rId4" Type="http://schemas.openxmlformats.org/officeDocument/2006/relationships/image" Target="../media/image8.png"/><Relationship Id="rId9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42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1.png"/><Relationship Id="rId5" Type="http://schemas.openxmlformats.org/officeDocument/2006/relationships/image" Target="../media/image32.png"/><Relationship Id="rId15" Type="http://schemas.openxmlformats.org/officeDocument/2006/relationships/image" Target="../media/image20.png"/><Relationship Id="rId10" Type="http://schemas.openxmlformats.org/officeDocument/2006/relationships/image" Target="../media/image50.png"/><Relationship Id="rId4" Type="http://schemas.openxmlformats.org/officeDocument/2006/relationships/image" Target="../media/image8.png"/><Relationship Id="rId9" Type="http://schemas.openxmlformats.org/officeDocument/2006/relationships/image" Target="../media/image44.png"/><Relationship Id="rId1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55.png"/><Relationship Id="rId3" Type="http://schemas.openxmlformats.org/officeDocument/2006/relationships/image" Target="../media/image7.png"/><Relationship Id="rId7" Type="http://schemas.openxmlformats.org/officeDocument/2006/relationships/image" Target="../media/image54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9.png"/><Relationship Id="rId5" Type="http://schemas.openxmlformats.org/officeDocument/2006/relationships/image" Target="../media/image53.png"/><Relationship Id="rId10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29.png"/><Relationship Id="rId1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5" Type="http://schemas.openxmlformats.org/officeDocument/2006/relationships/image" Target="../media/image20.png"/><Relationship Id="rId10" Type="http://schemas.openxmlformats.org/officeDocument/2006/relationships/image" Target="../media/image60.png"/><Relationship Id="rId4" Type="http://schemas.openxmlformats.org/officeDocument/2006/relationships/image" Target="../media/image8.png"/><Relationship Id="rId9" Type="http://schemas.openxmlformats.org/officeDocument/2006/relationships/image" Target="../media/image59.png"/><Relationship Id="rId1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64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3151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143000" y="135701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104900" y="13570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kern="0" spc="-72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52600" y="1437977"/>
            <a:ext cx="14940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CowHealth </a:t>
            </a:r>
            <a:r>
              <a:rPr lang="en-US" sz="1800" b="1" kern="0" spc="-18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271415"/>
            <a:ext cx="7848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93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HI-FI MOCKUPS · V1.0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143000" y="2538115"/>
            <a:ext cx="5748180" cy="2943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do rebanho</a:t>
            </a:r>
            <a:endParaRPr lang="en-US" sz="10500" dirty="0"/>
          </a:p>
        </p:txBody>
      </p:sp>
      <p:sp>
        <p:nvSpPr>
          <p:cNvPr id="8" name="Text 6"/>
          <p:cNvSpPr/>
          <p:nvPr/>
        </p:nvSpPr>
        <p:spPr>
          <a:xfrm>
            <a:off x="1143000" y="5195590"/>
            <a:ext cx="784860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b="1" kern="0" spc="-42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bolso.</a:t>
            </a:r>
            <a:endParaRPr lang="en-US" sz="10500" dirty="0"/>
          </a:p>
        </p:txBody>
      </p:sp>
      <p:sp>
        <p:nvSpPr>
          <p:cNvPr id="9" name="Text 7"/>
          <p:cNvSpPr/>
          <p:nvPr/>
        </p:nvSpPr>
        <p:spPr>
          <a:xfrm>
            <a:off x="1143000" y="6700540"/>
            <a:ext cx="5690235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</a:t>
            </a:r>
            <a:r>
              <a:rPr lang="en-US" sz="195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criativo</a:t>
            </a:r>
            <a:r>
              <a:rPr lang="en-US" sz="195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12 telas mobile high-fidelity para monitoramento contínuo de bovinos via coleira inteligente. Dark-first, projetado para uso em campo.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43000" y="8539460"/>
            <a:ext cx="9679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6C7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PLATAFORMA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" y="8729960"/>
            <a:ext cx="13640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iOS/Android · 390×844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8010" y="8539460"/>
            <a:ext cx="6112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6C7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IDIOMA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88010" y="8729960"/>
            <a:ext cx="6112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PT-BR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0247" y="8539460"/>
            <a:ext cx="7003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6C7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80247" y="8729960"/>
            <a:ext cx="336708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Pecuarista · Veterinário · Gestor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125700" y="369570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13151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6002000" y="369570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15506700" y="476250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6383000" y="476250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5887700" y="582930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58536-B63E-8F70-CCD3-78E245871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6CCD45-1D46-9F33-B6D4-5F7BCEE56A9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A2AAD1-3AD0-ACE2-E2B9-9BE564A632A3}"/>
              </a:ext>
            </a:extLst>
          </p:cNvPr>
          <p:cNvSpPr/>
          <p:nvPr/>
        </p:nvSpPr>
        <p:spPr>
          <a:xfrm>
            <a:off x="1143000" y="1434405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Passos </a:t>
            </a:r>
            <a:r>
              <a:rPr lang="en-US" sz="1200" kern="0" spc="360" dirty="0" err="1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realizados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BD7E57-CF99-5504-56DB-663A1A887BAF}"/>
              </a:ext>
            </a:extLst>
          </p:cNvPr>
          <p:cNvSpPr/>
          <p:nvPr/>
        </p:nvSpPr>
        <p:spPr>
          <a:xfrm>
            <a:off x="1143000" y="3255615"/>
            <a:ext cx="13735050" cy="284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sketch </a:t>
            </a:r>
            <a:r>
              <a:rPr lang="en-US" sz="12000" b="1" kern="0" spc="-420" dirty="0" err="1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</a:t>
            </a: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0" b="1" kern="0" spc="-42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blueprint.</a:t>
            </a:r>
            <a:endParaRPr lang="en-US" sz="1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4AD7B1-3C58-D156-D718-3A18023CFBD5}"/>
              </a:ext>
            </a:extLst>
          </p:cNvPr>
          <p:cNvSpPr/>
          <p:nvPr/>
        </p:nvSpPr>
        <p:spPr>
          <a:xfrm>
            <a:off x="1143000" y="7938046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</a:t>
            </a:r>
            <a:r>
              <a:rPr lang="en-US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definições</a:t>
            </a:r>
            <a:r>
              <a:rPr lang="en-US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fluxos</a:t>
            </a: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800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possiveis</a:t>
            </a: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visualizações</a:t>
            </a: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dados · forma de </a:t>
            </a:r>
            <a:r>
              <a:rPr lang="en-US" sz="1800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</a:t>
            </a: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4741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E30CF-D713-8573-C3A6-EE1067432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EA0D93-4B18-D346-67B1-D0F9FDC27388}"/>
              </a:ext>
            </a:extLst>
          </p:cNvPr>
          <p:cNvSpPr/>
          <p:nvPr/>
        </p:nvSpPr>
        <p:spPr>
          <a:xfrm>
            <a:off x="0" y="5497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5ECE0F1-D367-60DB-F14D-0A76481868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2" r="16956" b="18776"/>
          <a:stretch>
            <a:fillRect/>
          </a:stretch>
        </p:blipFill>
        <p:spPr>
          <a:xfrm>
            <a:off x="371619" y="334837"/>
            <a:ext cx="11776306" cy="8680571"/>
          </a:xfrm>
          <a:prstGeom prst="rect">
            <a:avLst/>
          </a:prstGeom>
          <a:ln w="76200">
            <a:solidFill>
              <a:srgbClr val="7DE2D1"/>
            </a:solidFill>
          </a:ln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9289F99-4A3F-1CA6-34B1-77CA54BE6B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416" t="13341" r="52651" b="18153"/>
          <a:stretch>
            <a:fillRect/>
          </a:stretch>
        </p:blipFill>
        <p:spPr>
          <a:xfrm>
            <a:off x="12545889" y="1146207"/>
            <a:ext cx="5370492" cy="8690494"/>
          </a:xfrm>
          <a:prstGeom prst="rect">
            <a:avLst/>
          </a:prstGeom>
          <a:ln w="76200">
            <a:solidFill>
              <a:srgbClr val="7DE2D1"/>
            </a:solidFill>
          </a:ln>
        </p:spPr>
      </p:pic>
    </p:spTree>
    <p:extLst>
      <p:ext uri="{BB962C8B-B14F-4D97-AF65-F5344CB8AC3E}">
        <p14:creationId xmlns:p14="http://schemas.microsoft.com/office/powerpoint/2010/main" val="3572300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B6A3-76BC-F96F-3F62-7D6A6599D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65C2AE-2412-2626-DA91-2FF57F3F8EF6}"/>
              </a:ext>
            </a:extLst>
          </p:cNvPr>
          <p:cNvSpPr/>
          <p:nvPr/>
        </p:nvSpPr>
        <p:spPr>
          <a:xfrm>
            <a:off x="0" y="5497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A9176AD-59C9-0F13-E340-0EEE83C2E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112" y="119062"/>
            <a:ext cx="14201775" cy="1004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90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9B4C5-95EF-3D30-E70A-A282EB73B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FFA1D6-FCD8-9C8B-54A5-6C960E0F1AC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0FDCFA-E6C8-282F-E610-E643FB69F3CB}"/>
              </a:ext>
            </a:extLst>
          </p:cNvPr>
          <p:cNvSpPr/>
          <p:nvPr/>
        </p:nvSpPr>
        <p:spPr>
          <a:xfrm>
            <a:off x="1143000" y="1434405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Passos </a:t>
            </a:r>
            <a:r>
              <a:rPr lang="en-US" sz="1200" kern="0" spc="360" dirty="0" err="1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realizados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0FD31E-7724-34C5-30CB-33E24240BC84}"/>
              </a:ext>
            </a:extLst>
          </p:cNvPr>
          <p:cNvSpPr/>
          <p:nvPr/>
        </p:nvSpPr>
        <p:spPr>
          <a:xfrm>
            <a:off x="1143000" y="3255615"/>
            <a:ext cx="13735050" cy="284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blueprint </a:t>
            </a:r>
            <a:r>
              <a:rPr lang="en-US" sz="12000" b="1" kern="0" spc="-420" dirty="0" err="1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</a:t>
            </a: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0" b="1" kern="0" spc="-42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system.</a:t>
            </a:r>
            <a:endParaRPr lang="en-US" sz="1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BC84FFF-DF72-1629-DEE2-F5B72CEA4052}"/>
              </a:ext>
            </a:extLst>
          </p:cNvPr>
          <p:cNvSpPr/>
          <p:nvPr/>
        </p:nvSpPr>
        <p:spPr>
          <a:xfrm>
            <a:off x="1143000" y="7938046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Paletas – </a:t>
            </a:r>
            <a:r>
              <a:rPr lang="en-US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</a:t>
            </a:r>
            <a:r>
              <a:rPr lang="en-US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dirty="0" err="1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13702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F8782-0F59-0887-3451-4FCCABC10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ACA192-DA3B-B681-7853-521766B363B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E53E818-EC2F-FC84-E42B-CF4193DF8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7" y="2372071"/>
            <a:ext cx="18161905" cy="5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75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72A09-7284-9E66-2378-4D3F1571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C08FC9-23B2-5C7F-CC19-A82586B5A4E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2026-05-08_00-26-34">
            <a:hlinkClick r:id="" action="ppaction://media"/>
            <a:extLst>
              <a:ext uri="{FF2B5EF4-FFF2-40B4-BE49-F238E27FC236}">
                <a16:creationId xmlns:a16="http://schemas.microsoft.com/office/drawing/2014/main" id="{8C7BEDCC-F76D-849F-81E6-6B7B9394ED0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943600" y="1657350"/>
            <a:ext cx="6400800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13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9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72A09-7284-9E66-2378-4D3F1571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C08FC9-23B2-5C7F-CC19-A82586B5A4E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2026-05-08_00-29-34">
            <a:hlinkClick r:id="" action="ppaction://media"/>
            <a:extLst>
              <a:ext uri="{FF2B5EF4-FFF2-40B4-BE49-F238E27FC236}">
                <a16:creationId xmlns:a16="http://schemas.microsoft.com/office/drawing/2014/main" id="{81F505D5-6455-0451-29C3-04B269EC5A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86250" y="1666875"/>
            <a:ext cx="9715500" cy="695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0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2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2768947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DESIGN SYSTEM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149947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enxuto </a:t>
            </a: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decisões claras.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4826347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derivados da paleta Onyx para uso outdoor: alto contraste, leitura rápida e densidade de dados sem ruído visual.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6302722"/>
            <a:ext cx="2133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206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143000" y="6588472"/>
            <a:ext cx="21336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 base · Verdigris primária · Pearl Aqua accent.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43000" y="7175153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13151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543050" y="7175153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2B2C28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943100" y="7175153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339989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343150" y="7175153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7DE2D1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743200" y="7175153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FFFAFB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733800" y="6302722"/>
            <a:ext cx="2133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206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TIPOGRAFIA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733800" y="6588472"/>
            <a:ext cx="2133600" cy="77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Grotesk </a:t>
            </a:r>
            <a:r>
              <a:rPr lang="en-US" sz="120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</a:t>
            </a: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Manrope </a:t>
            </a:r>
            <a:r>
              <a:rPr lang="en-US" sz="120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</a:t>
            </a: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Mono </a:t>
            </a:r>
            <a:r>
              <a:rPr lang="en-US" sz="120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24600" y="6302722"/>
            <a:ext cx="2133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206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324600" y="6588472"/>
            <a:ext cx="2133600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4px · Radii 8/12/16/20 App bar 56 · Tap target 48 Safe area 16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3503116" y="1168003"/>
            <a:ext cx="491564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08:42</a:t>
            </a:r>
            <a:endParaRPr lang="en-US" sz="1125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9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0"/>
          <p:cNvSpPr/>
          <p:nvPr/>
        </p:nvSpPr>
        <p:spPr>
          <a:xfrm>
            <a:off x="13383102" y="1543050"/>
            <a:ext cx="400050" cy="400050"/>
          </a:xfrm>
          <a:prstGeom prst="ellipse">
            <a:avLst/>
          </a:prstGeom>
          <a:solidFill>
            <a:srgbClr val="4F6E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/>
          <p:nvPr/>
        </p:nvSpPr>
        <p:spPr>
          <a:xfrm>
            <a:off x="13488896" y="1638062"/>
            <a:ext cx="264505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3863162" y="1558052"/>
            <a:ext cx="2296477" cy="25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Olá, Ana</a:t>
            </a:r>
            <a:endParaRPr lang="en-US" sz="1275" dirty="0"/>
          </a:p>
        </p:txBody>
      </p:sp>
      <p:sp>
        <p:nvSpPr>
          <p:cNvPr id="27" name="Text 23"/>
          <p:cNvSpPr/>
          <p:nvPr/>
        </p:nvSpPr>
        <p:spPr>
          <a:xfrm>
            <a:off x="13863162" y="1788081"/>
            <a:ext cx="2296477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Fazenda Gralha Azul · 50 vacas</a:t>
            </a:r>
            <a:endParaRPr lang="en-US" sz="9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3459" y="1643063"/>
            <a:ext cx="200025" cy="200025"/>
          </a:xfrm>
          <a:prstGeom prst="rect">
            <a:avLst/>
          </a:prstGeom>
        </p:spPr>
      </p:pic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83514" y="1643063"/>
            <a:ext cx="200025" cy="20002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16823531" y="1623060"/>
            <a:ext cx="80010" cy="80010"/>
          </a:xfrm>
          <a:prstGeom prst="ellipse">
            <a:avLst/>
          </a:prstGeom>
          <a:solidFill>
            <a:srgbClr val="E87C5C"/>
          </a:solidFill>
          <a:ln/>
          <a:effectLst>
            <a:outerShdw blurRad="101600" dist="50800" dir="16200000" algn="bl" rotWithShape="0">
              <a:srgbClr val="131515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5"/>
          <p:cNvSpPr/>
          <p:nvPr/>
        </p:nvSpPr>
        <p:spPr>
          <a:xfrm>
            <a:off x="13383102" y="2043113"/>
            <a:ext cx="3580447" cy="1890236"/>
          </a:xfrm>
          <a:prstGeom prst="roundRect">
            <a:avLst>
              <a:gd name="adj" fmla="val 8062"/>
            </a:avLst>
          </a:prstGeom>
          <a:solidFill>
            <a:srgbClr val="1B1D1D"/>
          </a:solidFill>
          <a:ln w="9525">
            <a:solidFill>
              <a:srgbClr val="339989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6"/>
          <p:cNvSpPr/>
          <p:nvPr/>
        </p:nvSpPr>
        <p:spPr>
          <a:xfrm>
            <a:off x="13573125" y="2233136"/>
            <a:ext cx="1291664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DO REBANHO</a:t>
            </a:r>
            <a:endParaRPr lang="en-US" sz="825" dirty="0"/>
          </a:p>
        </p:txBody>
      </p:sp>
      <p:sp>
        <p:nvSpPr>
          <p:cNvPr id="33" name="Text 27"/>
          <p:cNvSpPr/>
          <p:nvPr/>
        </p:nvSpPr>
        <p:spPr>
          <a:xfrm>
            <a:off x="13573125" y="2423160"/>
            <a:ext cx="1291664" cy="49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r>
              <a:rPr lang="en-US" sz="1350" b="1" kern="0" spc="-54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2700" dirty="0"/>
          </a:p>
        </p:txBody>
      </p:sp>
      <p:sp>
        <p:nvSpPr>
          <p:cNvPr id="34" name="Shape 28"/>
          <p:cNvSpPr/>
          <p:nvPr/>
        </p:nvSpPr>
        <p:spPr>
          <a:xfrm>
            <a:off x="15802466" y="2233136"/>
            <a:ext cx="971059" cy="170021"/>
          </a:xfrm>
          <a:prstGeom prst="roundRect">
            <a:avLst>
              <a:gd name="adj" fmla="val 50000"/>
            </a:avLst>
          </a:prstGeom>
          <a:solidFill>
            <a:srgbClr val="7DE2D1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82476" y="2263140"/>
            <a:ext cx="110014" cy="11001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6052497" y="2263140"/>
            <a:ext cx="717218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 vs ontem</a:t>
            </a:r>
            <a:endParaRPr lang="en-US" sz="825" dirty="0"/>
          </a:p>
        </p:txBody>
      </p:sp>
      <p:sp>
        <p:nvSpPr>
          <p:cNvPr id="37" name="Shape 30"/>
          <p:cNvSpPr/>
          <p:nvPr/>
        </p:nvSpPr>
        <p:spPr>
          <a:xfrm>
            <a:off x="13573125" y="3043238"/>
            <a:ext cx="1000125" cy="700088"/>
          </a:xfrm>
          <a:prstGeom prst="roundRect">
            <a:avLst>
              <a:gd name="adj" fmla="val 16327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1"/>
          <p:cNvSpPr/>
          <p:nvPr/>
        </p:nvSpPr>
        <p:spPr>
          <a:xfrm>
            <a:off x="13703141" y="3193256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2"/>
          <p:cNvSpPr/>
          <p:nvPr/>
        </p:nvSpPr>
        <p:spPr>
          <a:xfrm>
            <a:off x="13843159" y="3173254"/>
            <a:ext cx="59001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Saudáveis</a:t>
            </a:r>
            <a:endParaRPr lang="en-US" sz="825" dirty="0"/>
          </a:p>
        </p:txBody>
      </p:sp>
      <p:sp>
        <p:nvSpPr>
          <p:cNvPr id="40" name="Text 33"/>
          <p:cNvSpPr/>
          <p:nvPr/>
        </p:nvSpPr>
        <p:spPr>
          <a:xfrm>
            <a:off x="13703141" y="3333274"/>
            <a:ext cx="816292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650" dirty="0"/>
          </a:p>
        </p:txBody>
      </p:sp>
      <p:sp>
        <p:nvSpPr>
          <p:cNvPr id="41" name="Shape 34"/>
          <p:cNvSpPr/>
          <p:nvPr/>
        </p:nvSpPr>
        <p:spPr>
          <a:xfrm>
            <a:off x="14673263" y="3043238"/>
            <a:ext cx="1000125" cy="700088"/>
          </a:xfrm>
          <a:prstGeom prst="roundRect">
            <a:avLst>
              <a:gd name="adj" fmla="val 16327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35"/>
          <p:cNvSpPr/>
          <p:nvPr/>
        </p:nvSpPr>
        <p:spPr>
          <a:xfrm>
            <a:off x="14803279" y="3193256"/>
            <a:ext cx="80010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36"/>
          <p:cNvSpPr/>
          <p:nvPr/>
        </p:nvSpPr>
        <p:spPr>
          <a:xfrm>
            <a:off x="14943296" y="3173254"/>
            <a:ext cx="480001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</a:t>
            </a:r>
            <a:endParaRPr lang="en-US" sz="825" dirty="0"/>
          </a:p>
        </p:txBody>
      </p:sp>
      <p:sp>
        <p:nvSpPr>
          <p:cNvPr id="44" name="Text 37"/>
          <p:cNvSpPr/>
          <p:nvPr/>
        </p:nvSpPr>
        <p:spPr>
          <a:xfrm>
            <a:off x="14803279" y="3333274"/>
            <a:ext cx="816292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45" name="Shape 38"/>
          <p:cNvSpPr/>
          <p:nvPr/>
        </p:nvSpPr>
        <p:spPr>
          <a:xfrm>
            <a:off x="15773400" y="3043238"/>
            <a:ext cx="1000125" cy="700088"/>
          </a:xfrm>
          <a:prstGeom prst="roundRect">
            <a:avLst>
              <a:gd name="adj" fmla="val 16327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39"/>
          <p:cNvSpPr/>
          <p:nvPr/>
        </p:nvSpPr>
        <p:spPr>
          <a:xfrm>
            <a:off x="15903416" y="3193256"/>
            <a:ext cx="80010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0"/>
          <p:cNvSpPr/>
          <p:nvPr/>
        </p:nvSpPr>
        <p:spPr>
          <a:xfrm>
            <a:off x="16043434" y="3173254"/>
            <a:ext cx="44906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Críticas</a:t>
            </a:r>
            <a:endParaRPr lang="en-US" sz="825" dirty="0"/>
          </a:p>
        </p:txBody>
      </p:sp>
      <p:sp>
        <p:nvSpPr>
          <p:cNvPr id="48" name="Text 41"/>
          <p:cNvSpPr/>
          <p:nvPr/>
        </p:nvSpPr>
        <p:spPr>
          <a:xfrm>
            <a:off x="15903416" y="3333274"/>
            <a:ext cx="816292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49" name="Shape 42"/>
          <p:cNvSpPr/>
          <p:nvPr/>
        </p:nvSpPr>
        <p:spPr>
          <a:xfrm>
            <a:off x="13383102" y="4073366"/>
            <a:ext cx="3580447" cy="1723966"/>
          </a:xfrm>
          <a:prstGeom prst="roundRect">
            <a:avLst>
              <a:gd name="adj" fmla="val 8840"/>
            </a:avLst>
          </a:prstGeom>
          <a:solidFill>
            <a:srgbClr val="1B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Shape 43"/>
          <p:cNvSpPr/>
          <p:nvPr/>
        </p:nvSpPr>
        <p:spPr>
          <a:xfrm>
            <a:off x="13383102" y="5787807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4"/>
          <p:cNvSpPr/>
          <p:nvPr/>
        </p:nvSpPr>
        <p:spPr>
          <a:xfrm>
            <a:off x="13383102" y="4073366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45"/>
          <p:cNvSpPr/>
          <p:nvPr/>
        </p:nvSpPr>
        <p:spPr>
          <a:xfrm>
            <a:off x="13383102" y="4073366"/>
            <a:ext cx="28575" cy="1723966"/>
          </a:xfrm>
          <a:prstGeom prst="rect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46"/>
          <p:cNvSpPr/>
          <p:nvPr/>
        </p:nvSpPr>
        <p:spPr>
          <a:xfrm>
            <a:off x="16954023" y="4073366"/>
            <a:ext cx="9525" cy="1723966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73125" y="4253389"/>
            <a:ext cx="160020" cy="160020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13813156" y="4243388"/>
            <a:ext cx="1183994" cy="2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E87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CRÍTICO</a:t>
            </a:r>
            <a:endParaRPr lang="en-US" sz="975" dirty="0"/>
          </a:p>
        </p:txBody>
      </p:sp>
      <p:sp>
        <p:nvSpPr>
          <p:cNvPr id="56" name="Text 48"/>
          <p:cNvSpPr/>
          <p:nvPr/>
        </p:nvSpPr>
        <p:spPr>
          <a:xfrm>
            <a:off x="16265336" y="4273391"/>
            <a:ext cx="604391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1 min</a:t>
            </a:r>
            <a:endParaRPr lang="en-US" sz="825" dirty="0"/>
          </a:p>
        </p:txBody>
      </p:sp>
      <p:sp>
        <p:nvSpPr>
          <p:cNvPr id="57" name="Text 49"/>
          <p:cNvSpPr/>
          <p:nvPr/>
        </p:nvSpPr>
        <p:spPr>
          <a:xfrm>
            <a:off x="13573125" y="4523422"/>
            <a:ext cx="3317014" cy="25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Estrela está com febre</a:t>
            </a:r>
            <a:endParaRPr lang="en-US" sz="1275" dirty="0"/>
          </a:p>
        </p:txBody>
      </p:sp>
      <p:sp>
        <p:nvSpPr>
          <p:cNvPr id="58" name="Text 50"/>
          <p:cNvSpPr/>
          <p:nvPr/>
        </p:nvSpPr>
        <p:spPr>
          <a:xfrm>
            <a:off x="13573125" y="4783455"/>
            <a:ext cx="3317014" cy="40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 40.2 °C, FC 96 bpm. Recomenda-se avaliação veterinária imediata.</a:t>
            </a:r>
            <a:endParaRPr lang="en-US" sz="975" dirty="0"/>
          </a:p>
        </p:txBody>
      </p:sp>
      <p:sp>
        <p:nvSpPr>
          <p:cNvPr id="59" name="Shape 51"/>
          <p:cNvSpPr/>
          <p:nvPr/>
        </p:nvSpPr>
        <p:spPr>
          <a:xfrm>
            <a:off x="13573125" y="5267266"/>
            <a:ext cx="988249" cy="360044"/>
          </a:xfrm>
          <a:prstGeom prst="roundRect">
            <a:avLst>
              <a:gd name="adj" fmla="val 31746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2"/>
          <p:cNvSpPr/>
          <p:nvPr/>
        </p:nvSpPr>
        <p:spPr>
          <a:xfrm>
            <a:off x="13735050" y="5342275"/>
            <a:ext cx="664399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vaca</a:t>
            </a:r>
            <a:endParaRPr lang="en-US" sz="1125" dirty="0"/>
          </a:p>
        </p:txBody>
      </p:sp>
      <p:sp>
        <p:nvSpPr>
          <p:cNvPr id="61" name="Shape 53"/>
          <p:cNvSpPr/>
          <p:nvPr/>
        </p:nvSpPr>
        <p:spPr>
          <a:xfrm>
            <a:off x="14641383" y="5267266"/>
            <a:ext cx="789474" cy="360044"/>
          </a:xfrm>
          <a:prstGeom prst="roundRect">
            <a:avLst>
              <a:gd name="adj" fmla="val 31746"/>
            </a:avLst>
          </a:prstGeom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54"/>
          <p:cNvSpPr/>
          <p:nvPr/>
        </p:nvSpPr>
        <p:spPr>
          <a:xfrm>
            <a:off x="14813310" y="5342275"/>
            <a:ext cx="445622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Adiar</a:t>
            </a:r>
            <a:endParaRPr lang="en-US" sz="1125" dirty="0"/>
          </a:p>
        </p:txBody>
      </p:sp>
      <p:sp>
        <p:nvSpPr>
          <p:cNvPr id="63" name="Text 55"/>
          <p:cNvSpPr/>
          <p:nvPr/>
        </p:nvSpPr>
        <p:spPr>
          <a:xfrm>
            <a:off x="13383102" y="5977354"/>
            <a:ext cx="1100547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rápido</a:t>
            </a:r>
            <a:endParaRPr lang="en-US" sz="1125" dirty="0"/>
          </a:p>
        </p:txBody>
      </p:sp>
      <p:sp>
        <p:nvSpPr>
          <p:cNvPr id="64" name="Text 56"/>
          <p:cNvSpPr/>
          <p:nvPr/>
        </p:nvSpPr>
        <p:spPr>
          <a:xfrm>
            <a:off x="16482551" y="5987355"/>
            <a:ext cx="557197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tudo</a:t>
            </a:r>
            <a:endParaRPr lang="en-US" sz="900" dirty="0"/>
          </a:p>
        </p:txBody>
      </p:sp>
      <p:sp>
        <p:nvSpPr>
          <p:cNvPr id="65" name="Shape 57"/>
          <p:cNvSpPr/>
          <p:nvPr/>
        </p:nvSpPr>
        <p:spPr>
          <a:xfrm>
            <a:off x="13383102" y="6307395"/>
            <a:ext cx="1740217" cy="1090136"/>
          </a:xfrm>
          <a:prstGeom prst="roundRect">
            <a:avLst>
              <a:gd name="adj" fmla="val 1398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Shape 58"/>
          <p:cNvSpPr/>
          <p:nvPr/>
        </p:nvSpPr>
        <p:spPr>
          <a:xfrm>
            <a:off x="13533120" y="6457414"/>
            <a:ext cx="360044" cy="360045"/>
          </a:xfrm>
          <a:prstGeom prst="roundRect">
            <a:avLst>
              <a:gd name="adj" fmla="val 26455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23131" y="6547426"/>
            <a:ext cx="180023" cy="180022"/>
          </a:xfrm>
          <a:prstGeom prst="rect">
            <a:avLst/>
          </a:prstGeom>
        </p:spPr>
      </p:pic>
      <p:sp>
        <p:nvSpPr>
          <p:cNvPr id="68" name="Text 59"/>
          <p:cNvSpPr/>
          <p:nvPr/>
        </p:nvSpPr>
        <p:spPr>
          <a:xfrm>
            <a:off x="13533120" y="6917472"/>
            <a:ext cx="1516380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1050" dirty="0"/>
          </a:p>
        </p:txBody>
      </p:sp>
      <p:sp>
        <p:nvSpPr>
          <p:cNvPr id="69" name="Text 60"/>
          <p:cNvSpPr/>
          <p:nvPr/>
        </p:nvSpPr>
        <p:spPr>
          <a:xfrm>
            <a:off x="13533120" y="7127498"/>
            <a:ext cx="151638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vacas</a:t>
            </a:r>
            <a:endParaRPr lang="en-US" sz="825" dirty="0"/>
          </a:p>
        </p:txBody>
      </p:sp>
      <p:sp>
        <p:nvSpPr>
          <p:cNvPr id="70" name="Shape 61"/>
          <p:cNvSpPr/>
          <p:nvPr/>
        </p:nvSpPr>
        <p:spPr>
          <a:xfrm>
            <a:off x="15223331" y="6307395"/>
            <a:ext cx="1740217" cy="1090136"/>
          </a:xfrm>
          <a:prstGeom prst="roundRect">
            <a:avLst>
              <a:gd name="adj" fmla="val 1398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Shape 62"/>
          <p:cNvSpPr/>
          <p:nvPr/>
        </p:nvSpPr>
        <p:spPr>
          <a:xfrm>
            <a:off x="15373350" y="6457414"/>
            <a:ext cx="360045" cy="360045"/>
          </a:xfrm>
          <a:prstGeom prst="roundRect">
            <a:avLst>
              <a:gd name="adj" fmla="val 26455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63361" y="6547426"/>
            <a:ext cx="180023" cy="180022"/>
          </a:xfrm>
          <a:prstGeom prst="rect">
            <a:avLst/>
          </a:prstGeom>
        </p:spPr>
      </p:pic>
      <p:sp>
        <p:nvSpPr>
          <p:cNvPr id="73" name="Text 63"/>
          <p:cNvSpPr/>
          <p:nvPr/>
        </p:nvSpPr>
        <p:spPr>
          <a:xfrm>
            <a:off x="15373350" y="6917472"/>
            <a:ext cx="1516380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1050" dirty="0"/>
          </a:p>
        </p:txBody>
      </p:sp>
      <p:sp>
        <p:nvSpPr>
          <p:cNvPr id="74" name="Text 64"/>
          <p:cNvSpPr/>
          <p:nvPr/>
        </p:nvSpPr>
        <p:spPr>
          <a:xfrm>
            <a:off x="15373350" y="7127498"/>
            <a:ext cx="151638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piquetes</a:t>
            </a:r>
            <a:endParaRPr lang="en-US" sz="825" dirty="0"/>
          </a:p>
        </p:txBody>
      </p:sp>
      <p:sp>
        <p:nvSpPr>
          <p:cNvPr id="75" name="Shape 65"/>
          <p:cNvSpPr/>
          <p:nvPr/>
        </p:nvSpPr>
        <p:spPr>
          <a:xfrm>
            <a:off x="13383102" y="7497544"/>
            <a:ext cx="1740217" cy="1090137"/>
          </a:xfrm>
          <a:prstGeom prst="roundRect">
            <a:avLst>
              <a:gd name="adj" fmla="val 1398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Shape 66"/>
          <p:cNvSpPr/>
          <p:nvPr/>
        </p:nvSpPr>
        <p:spPr>
          <a:xfrm>
            <a:off x="13533120" y="7647562"/>
            <a:ext cx="360044" cy="360045"/>
          </a:xfrm>
          <a:prstGeom prst="roundRect">
            <a:avLst>
              <a:gd name="adj" fmla="val 26455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23131" y="7737574"/>
            <a:ext cx="180023" cy="180023"/>
          </a:xfrm>
          <a:prstGeom prst="rect">
            <a:avLst/>
          </a:prstGeom>
        </p:spPr>
      </p:pic>
      <p:sp>
        <p:nvSpPr>
          <p:cNvPr id="78" name="Text 67"/>
          <p:cNvSpPr/>
          <p:nvPr/>
        </p:nvSpPr>
        <p:spPr>
          <a:xfrm>
            <a:off x="13533120" y="8107620"/>
            <a:ext cx="1516380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1050" dirty="0"/>
          </a:p>
        </p:txBody>
      </p:sp>
      <p:sp>
        <p:nvSpPr>
          <p:cNvPr id="79" name="Text 68"/>
          <p:cNvSpPr/>
          <p:nvPr/>
        </p:nvSpPr>
        <p:spPr>
          <a:xfrm>
            <a:off x="13533120" y="8317647"/>
            <a:ext cx="151638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meses</a:t>
            </a:r>
            <a:endParaRPr lang="en-US" sz="825" dirty="0"/>
          </a:p>
        </p:txBody>
      </p:sp>
      <p:sp>
        <p:nvSpPr>
          <p:cNvPr id="80" name="Shape 69"/>
          <p:cNvSpPr/>
          <p:nvPr/>
        </p:nvSpPr>
        <p:spPr>
          <a:xfrm>
            <a:off x="15223331" y="7497544"/>
            <a:ext cx="1740217" cy="1090137"/>
          </a:xfrm>
          <a:prstGeom prst="roundRect">
            <a:avLst>
              <a:gd name="adj" fmla="val 1398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1" name="Shape 70"/>
          <p:cNvSpPr/>
          <p:nvPr/>
        </p:nvSpPr>
        <p:spPr>
          <a:xfrm>
            <a:off x="15373350" y="7647562"/>
            <a:ext cx="360045" cy="360045"/>
          </a:xfrm>
          <a:prstGeom prst="roundRect">
            <a:avLst>
              <a:gd name="adj" fmla="val 26455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463361" y="7737574"/>
            <a:ext cx="180023" cy="180023"/>
          </a:xfrm>
          <a:prstGeom prst="rect">
            <a:avLst/>
          </a:prstGeom>
        </p:spPr>
      </p:pic>
      <p:sp>
        <p:nvSpPr>
          <p:cNvPr id="83" name="Text 71"/>
          <p:cNvSpPr/>
          <p:nvPr/>
        </p:nvSpPr>
        <p:spPr>
          <a:xfrm>
            <a:off x="15373350" y="8107620"/>
            <a:ext cx="1516380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</a:t>
            </a:r>
            <a:endParaRPr lang="en-US" sz="1050" dirty="0"/>
          </a:p>
        </p:txBody>
      </p:sp>
      <p:sp>
        <p:nvSpPr>
          <p:cNvPr id="84" name="Text 72"/>
          <p:cNvSpPr/>
          <p:nvPr/>
        </p:nvSpPr>
        <p:spPr>
          <a:xfrm>
            <a:off x="15373350" y="8317647"/>
            <a:ext cx="151638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JSON</a:t>
            </a:r>
            <a:endParaRPr lang="en-US" sz="825" dirty="0"/>
          </a:p>
        </p:txBody>
      </p:sp>
      <p:sp>
        <p:nvSpPr>
          <p:cNvPr id="85" name="Shape 73"/>
          <p:cNvSpPr/>
          <p:nvPr/>
        </p:nvSpPr>
        <p:spPr>
          <a:xfrm>
            <a:off x="13383102" y="8727698"/>
            <a:ext cx="3580447" cy="1620202"/>
          </a:xfrm>
          <a:prstGeom prst="roundRect">
            <a:avLst>
              <a:gd name="adj" fmla="val 9406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6" name="Text 74"/>
          <p:cNvSpPr/>
          <p:nvPr/>
        </p:nvSpPr>
        <p:spPr>
          <a:xfrm>
            <a:off x="13553123" y="8897719"/>
            <a:ext cx="1018505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Pré-parto (2)</a:t>
            </a:r>
            <a:endParaRPr lang="en-US" sz="1125" dirty="0"/>
          </a:p>
        </p:txBody>
      </p:sp>
      <p:sp>
        <p:nvSpPr>
          <p:cNvPr id="87" name="Shape 75"/>
          <p:cNvSpPr/>
          <p:nvPr/>
        </p:nvSpPr>
        <p:spPr>
          <a:xfrm>
            <a:off x="16100316" y="8897719"/>
            <a:ext cx="693211" cy="190024"/>
          </a:xfrm>
          <a:prstGeom prst="roundRect">
            <a:avLst>
              <a:gd name="adj" fmla="val 50000"/>
            </a:avLst>
          </a:prstGeom>
          <a:solidFill>
            <a:srgbClr val="E8C66B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180326" y="8937724"/>
            <a:ext cx="110013" cy="110013"/>
          </a:xfrm>
          <a:prstGeom prst="rect">
            <a:avLst/>
          </a:prstGeom>
        </p:spPr>
      </p:pic>
      <p:sp>
        <p:nvSpPr>
          <p:cNvPr id="89" name="Text 76"/>
          <p:cNvSpPr/>
          <p:nvPr/>
        </p:nvSpPr>
        <p:spPr>
          <a:xfrm>
            <a:off x="16350347" y="8937724"/>
            <a:ext cx="439370" cy="14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E8C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825" dirty="0"/>
          </a:p>
        </p:txBody>
      </p:sp>
      <p:sp>
        <p:nvSpPr>
          <p:cNvPr id="90" name="Text 77"/>
          <p:cNvSpPr/>
          <p:nvPr/>
        </p:nvSpPr>
        <p:spPr>
          <a:xfrm>
            <a:off x="13553123" y="9167753"/>
            <a:ext cx="3337617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Piquete sem cobertura Wi-Fi · sincronização ao retornar.</a:t>
            </a:r>
            <a:endParaRPr lang="en-US" sz="900" dirty="0"/>
          </a:p>
        </p:txBody>
      </p:sp>
      <p:sp>
        <p:nvSpPr>
          <p:cNvPr id="91" name="Shape 78"/>
          <p:cNvSpPr/>
          <p:nvPr/>
        </p:nvSpPr>
        <p:spPr>
          <a:xfrm>
            <a:off x="13553123" y="9427785"/>
            <a:ext cx="1580198" cy="750094"/>
          </a:xfrm>
          <a:prstGeom prst="roundRect">
            <a:avLst>
              <a:gd name="adj" fmla="val 12698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2" name="Text 79"/>
          <p:cNvSpPr/>
          <p:nvPr/>
        </p:nvSpPr>
        <p:spPr>
          <a:xfrm>
            <a:off x="13663137" y="9537799"/>
            <a:ext cx="1436369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Mocinha</a:t>
            </a:r>
            <a:endParaRPr lang="en-US" sz="975" dirty="0"/>
          </a:p>
        </p:txBody>
      </p:sp>
      <p:sp>
        <p:nvSpPr>
          <p:cNvPr id="93" name="Text 80"/>
          <p:cNvSpPr/>
          <p:nvPr/>
        </p:nvSpPr>
        <p:spPr>
          <a:xfrm>
            <a:off x="13663137" y="9737824"/>
            <a:ext cx="1436369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#022</a:t>
            </a:r>
            <a:endParaRPr lang="en-US" sz="825" dirty="0"/>
          </a:p>
        </p:txBody>
      </p:sp>
      <p:sp>
        <p:nvSpPr>
          <p:cNvPr id="94" name="Text 81"/>
          <p:cNvSpPr/>
          <p:nvPr/>
        </p:nvSpPr>
        <p:spPr>
          <a:xfrm>
            <a:off x="13663137" y="9917847"/>
            <a:ext cx="1436369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39.4°C</a:t>
            </a:r>
            <a:endParaRPr lang="en-US" sz="975" dirty="0"/>
          </a:p>
        </p:txBody>
      </p:sp>
      <p:sp>
        <p:nvSpPr>
          <p:cNvPr id="95" name="Shape 82"/>
          <p:cNvSpPr/>
          <p:nvPr/>
        </p:nvSpPr>
        <p:spPr>
          <a:xfrm>
            <a:off x="15213330" y="9427785"/>
            <a:ext cx="1580198" cy="750094"/>
          </a:xfrm>
          <a:prstGeom prst="roundRect">
            <a:avLst>
              <a:gd name="adj" fmla="val 12698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6" name="Text 83"/>
          <p:cNvSpPr/>
          <p:nvPr/>
        </p:nvSpPr>
        <p:spPr>
          <a:xfrm>
            <a:off x="15323344" y="9537799"/>
            <a:ext cx="1436370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Brisa</a:t>
            </a:r>
            <a:endParaRPr lang="en-US" sz="975" dirty="0"/>
          </a:p>
        </p:txBody>
      </p:sp>
      <p:sp>
        <p:nvSpPr>
          <p:cNvPr id="97" name="Text 84"/>
          <p:cNvSpPr/>
          <p:nvPr/>
        </p:nvSpPr>
        <p:spPr>
          <a:xfrm>
            <a:off x="15323344" y="9737824"/>
            <a:ext cx="143637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#048</a:t>
            </a:r>
            <a:endParaRPr lang="en-US" sz="825" dirty="0"/>
          </a:p>
        </p:txBody>
      </p:sp>
      <p:sp>
        <p:nvSpPr>
          <p:cNvPr id="98" name="Text 85"/>
          <p:cNvSpPr/>
          <p:nvPr/>
        </p:nvSpPr>
        <p:spPr>
          <a:xfrm>
            <a:off x="15323344" y="9917847"/>
            <a:ext cx="143637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39.6°C</a:t>
            </a:r>
            <a:endParaRPr lang="en-US" sz="975" dirty="0"/>
          </a:p>
        </p:txBody>
      </p:sp>
      <p:sp>
        <p:nvSpPr>
          <p:cNvPr id="99" name="Shape 86"/>
          <p:cNvSpPr/>
          <p:nvPr/>
        </p:nvSpPr>
        <p:spPr>
          <a:xfrm>
            <a:off x="13223081" y="8583930"/>
            <a:ext cx="3900488" cy="780098"/>
          </a:xfrm>
          <a:prstGeom prst="rect">
            <a:avLst/>
          </a:prstGeom>
          <a:solidFill>
            <a:srgbClr val="131515">
              <a:alpha val="9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0" name="Shape 87"/>
          <p:cNvSpPr/>
          <p:nvPr/>
        </p:nvSpPr>
        <p:spPr>
          <a:xfrm>
            <a:off x="13223081" y="8583930"/>
            <a:ext cx="3900488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1" name="Shape 88"/>
          <p:cNvSpPr/>
          <p:nvPr/>
        </p:nvSpPr>
        <p:spPr>
          <a:xfrm>
            <a:off x="13517025" y="8623935"/>
            <a:ext cx="320040" cy="350044"/>
          </a:xfrm>
          <a:prstGeom prst="roundRect">
            <a:avLst>
              <a:gd name="adj" fmla="val 35714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2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577032" y="8683942"/>
            <a:ext cx="200025" cy="200025"/>
          </a:xfrm>
          <a:prstGeom prst="rect">
            <a:avLst/>
          </a:prstGeom>
        </p:spPr>
      </p:pic>
      <p:sp>
        <p:nvSpPr>
          <p:cNvPr id="103" name="Text 89"/>
          <p:cNvSpPr/>
          <p:nvPr/>
        </p:nvSpPr>
        <p:spPr>
          <a:xfrm>
            <a:off x="13542497" y="8953976"/>
            <a:ext cx="345452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750" dirty="0"/>
          </a:p>
        </p:txBody>
      </p:sp>
      <p:pic>
        <p:nvPicPr>
          <p:cNvPr id="10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325250" y="8683942"/>
            <a:ext cx="200025" cy="200025"/>
          </a:xfrm>
          <a:prstGeom prst="rect">
            <a:avLst/>
          </a:prstGeom>
        </p:spPr>
      </p:pic>
      <p:sp>
        <p:nvSpPr>
          <p:cNvPr id="105" name="Text 90"/>
          <p:cNvSpPr/>
          <p:nvPr/>
        </p:nvSpPr>
        <p:spPr>
          <a:xfrm>
            <a:off x="14204922" y="8953976"/>
            <a:ext cx="516724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750" dirty="0"/>
          </a:p>
        </p:txBody>
      </p:sp>
      <p:pic>
        <p:nvPicPr>
          <p:cNvPr id="106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73313" y="8683942"/>
            <a:ext cx="200025" cy="200025"/>
          </a:xfrm>
          <a:prstGeom prst="rect">
            <a:avLst/>
          </a:prstGeom>
        </p:spPr>
      </p:pic>
      <p:sp>
        <p:nvSpPr>
          <p:cNvPr id="107" name="Text 91"/>
          <p:cNvSpPr/>
          <p:nvPr/>
        </p:nvSpPr>
        <p:spPr>
          <a:xfrm>
            <a:off x="14994552" y="8953976"/>
            <a:ext cx="4337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750" dirty="0"/>
          </a:p>
        </p:txBody>
      </p:sp>
      <p:pic>
        <p:nvPicPr>
          <p:cNvPr id="108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821375" y="8683942"/>
            <a:ext cx="200025" cy="200025"/>
          </a:xfrm>
          <a:prstGeom prst="rect">
            <a:avLst/>
          </a:prstGeom>
        </p:spPr>
      </p:pic>
      <p:sp>
        <p:nvSpPr>
          <p:cNvPr id="109" name="Text 92"/>
          <p:cNvSpPr/>
          <p:nvPr/>
        </p:nvSpPr>
        <p:spPr>
          <a:xfrm>
            <a:off x="15787464" y="8953976"/>
            <a:ext cx="3440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750" dirty="0"/>
          </a:p>
        </p:txBody>
      </p:sp>
      <p:pic>
        <p:nvPicPr>
          <p:cNvPr id="110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569437" y="8683942"/>
            <a:ext cx="200025" cy="200025"/>
          </a:xfrm>
          <a:prstGeom prst="rect">
            <a:avLst/>
          </a:prstGeom>
        </p:spPr>
      </p:pic>
      <p:sp>
        <p:nvSpPr>
          <p:cNvPr id="111" name="Text 93"/>
          <p:cNvSpPr/>
          <p:nvPr/>
        </p:nvSpPr>
        <p:spPr>
          <a:xfrm>
            <a:off x="16537558" y="8953976"/>
            <a:ext cx="340140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750" dirty="0"/>
          </a:p>
        </p:txBody>
      </p:sp>
      <p:sp>
        <p:nvSpPr>
          <p:cNvPr id="112" name="Shape 94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1434405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Parte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3255615"/>
            <a:ext cx="13735050" cy="284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e </a:t>
            </a:r>
            <a:r>
              <a:rPr lang="en-US" sz="12000" b="1" kern="0" spc="-42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contato.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7938046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Splash, onboarding e login. Apresentação da marca, do produto e do papel do usuário antes do dashboard.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14801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01 · SPLASH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529013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 da marca em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800ms</a:t>
            </a: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20541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monolítico sobre Onyx puro. Sincronização silenciosa em background; nenhum spinner para evitar a sensação de "esperando".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4531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primeiro: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tipografia da marca em escala display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8722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fricção: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auto-transiciona para login ou home se sessão válida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1564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08:42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13223081" y="1463040"/>
            <a:ext cx="3900488" cy="7900988"/>
          </a:xfrm>
          <a:prstGeom prst="rect">
            <a:avLst/>
          </a:prstGeom>
          <a:solidFill>
            <a:srgbClr val="13151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14531156" y="3871252"/>
            <a:ext cx="1284339" cy="1284339"/>
          </a:xfrm>
          <a:prstGeom prst="ellipse">
            <a:avLst/>
          </a:prstGeom>
          <a:solidFill>
            <a:srgbClr val="339989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14693265" y="4033361"/>
            <a:ext cx="960120" cy="960120"/>
          </a:xfrm>
          <a:prstGeom prst="ellipse">
            <a:avLst/>
          </a:prstGeom>
          <a:solidFill>
            <a:srgbClr val="2B2C28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33295" y="4273391"/>
            <a:ext cx="480059" cy="4800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681731" y="5233511"/>
            <a:ext cx="2983189" cy="4381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kern="0" spc="-48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CowHealth</a:t>
            </a:r>
            <a:r>
              <a:rPr lang="en-US" sz="2400" b="1" kern="0" spc="-48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13681731" y="5713571"/>
            <a:ext cx="298318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2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Pecuária de precisão · Saúde em tempo real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14494802" y="8463915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7"/>
          <p:cNvSpPr/>
          <p:nvPr/>
        </p:nvSpPr>
        <p:spPr>
          <a:xfrm>
            <a:off x="14354132" y="8323244"/>
            <a:ext cx="361351" cy="361351"/>
          </a:xfrm>
          <a:prstGeom prst="ellipse">
            <a:avLst/>
          </a:prstGeom>
          <a:solidFill>
            <a:srgbClr val="7DE2D1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8"/>
          <p:cNvSpPr/>
          <p:nvPr/>
        </p:nvSpPr>
        <p:spPr>
          <a:xfrm>
            <a:off x="14596721" y="8443913"/>
            <a:ext cx="129307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Sincronizando coleiras…</a:t>
            </a:r>
            <a:endParaRPr lang="en-US" sz="825" dirty="0"/>
          </a:p>
        </p:txBody>
      </p:sp>
      <p:sp>
        <p:nvSpPr>
          <p:cNvPr id="24" name="Text 19"/>
          <p:cNvSpPr/>
          <p:nvPr/>
        </p:nvSpPr>
        <p:spPr>
          <a:xfrm>
            <a:off x="13411806" y="8643938"/>
            <a:ext cx="352304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Fazenda Experimental Gralha Azul · PUCPR · v1.7</a:t>
            </a:r>
            <a:endParaRPr lang="en-US" sz="825" dirty="0"/>
          </a:p>
        </p:txBody>
      </p:sp>
      <p:sp>
        <p:nvSpPr>
          <p:cNvPr id="25" name="Shape 20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14801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02 · ONBOARDING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529013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promessas,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pergunta.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20541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Carrossel curto que apresenta o valor (alerta precoce, telemetria contínua, modo offline). Termina pedindo o papel do usuário — produtor, veterinário ou gestor.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4531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Stepper visual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3 cards · ilustração placeholder pronta para arte final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8722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Pular sempre disponível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canto superior direito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1564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08:42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3112" y="1623060"/>
            <a:ext cx="220027" cy="2200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63149" y="1643063"/>
            <a:ext cx="961466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CowHealth AI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6462378" y="1642586"/>
            <a:ext cx="40211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Pular</a:t>
            </a:r>
            <a:endParaRPr lang="en-US" sz="975" dirty="0"/>
          </a:p>
        </p:txBody>
      </p:sp>
      <p:sp>
        <p:nvSpPr>
          <p:cNvPr id="18" name="Shape 13"/>
          <p:cNvSpPr/>
          <p:nvPr/>
        </p:nvSpPr>
        <p:spPr>
          <a:xfrm>
            <a:off x="13463112" y="2718666"/>
            <a:ext cx="3420427" cy="2800350"/>
          </a:xfrm>
          <a:prstGeom prst="roundRect">
            <a:avLst>
              <a:gd name="adj" fmla="val 8163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13473113" y="2728667"/>
            <a:ext cx="3400425" cy="278034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4813280" y="3758796"/>
            <a:ext cx="720091" cy="720090"/>
          </a:xfrm>
          <a:prstGeom prst="ellipse">
            <a:avLst/>
          </a:prstGeom>
          <a:solidFill>
            <a:srgbClr val="131515"/>
          </a:solidFill>
          <a:ln w="19050">
            <a:solidFill>
              <a:srgbClr val="339989"/>
            </a:solidFill>
            <a:prstDash val="solid"/>
          </a:ln>
          <a:effectLst>
            <a:outerShdw blurRad="381000" dist="50800" dir="16200000" algn="bl" rotWithShape="0">
              <a:srgbClr val="339989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3302" y="3938818"/>
            <a:ext cx="360045" cy="36004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3633133" y="2888687"/>
            <a:ext cx="997937" cy="170021"/>
          </a:xfrm>
          <a:prstGeom prst="roundRect">
            <a:avLst>
              <a:gd name="adj" fmla="val 50000"/>
            </a:avLst>
          </a:prstGeom>
          <a:solidFill>
            <a:srgbClr val="7DE2D1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3143" y="2918691"/>
            <a:ext cx="110013" cy="11001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883164" y="2918691"/>
            <a:ext cx="744095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Coleira ativa</a:t>
            </a:r>
            <a:endParaRPr lang="en-US" sz="825" dirty="0"/>
          </a:p>
        </p:txBody>
      </p:sp>
      <p:sp>
        <p:nvSpPr>
          <p:cNvPr id="25" name="Shape 17"/>
          <p:cNvSpPr/>
          <p:nvPr/>
        </p:nvSpPr>
        <p:spPr>
          <a:xfrm>
            <a:off x="16198922" y="4948944"/>
            <a:ext cx="514595" cy="170021"/>
          </a:xfrm>
          <a:prstGeom prst="roundRect">
            <a:avLst>
              <a:gd name="adj" fmla="val 50000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18"/>
          <p:cNvSpPr/>
          <p:nvPr/>
        </p:nvSpPr>
        <p:spPr>
          <a:xfrm>
            <a:off x="16278932" y="4978948"/>
            <a:ext cx="430776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39.1 °C</a:t>
            </a:r>
            <a:endParaRPr lang="en-US" sz="825" dirty="0"/>
          </a:p>
        </p:txBody>
      </p:sp>
      <p:sp>
        <p:nvSpPr>
          <p:cNvPr id="27" name="Shape 19"/>
          <p:cNvSpPr/>
          <p:nvPr/>
        </p:nvSpPr>
        <p:spPr>
          <a:xfrm>
            <a:off x="16170325" y="5178973"/>
            <a:ext cx="543192" cy="170021"/>
          </a:xfrm>
          <a:prstGeom prst="roundRect">
            <a:avLst>
              <a:gd name="adj" fmla="val 50000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0"/>
          <p:cNvSpPr/>
          <p:nvPr/>
        </p:nvSpPr>
        <p:spPr>
          <a:xfrm>
            <a:off x="16250335" y="5208977"/>
            <a:ext cx="459373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bpm</a:t>
            </a:r>
            <a:endParaRPr lang="en-US" sz="825" dirty="0"/>
          </a:p>
        </p:txBody>
      </p:sp>
      <p:sp>
        <p:nvSpPr>
          <p:cNvPr id="29" name="Text 21"/>
          <p:cNvSpPr/>
          <p:nvPr/>
        </p:nvSpPr>
        <p:spPr>
          <a:xfrm>
            <a:off x="13463112" y="5799051"/>
            <a:ext cx="3523040" cy="962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kern="0" spc="-42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rebanho monitorado em </a:t>
            </a:r>
            <a:r>
              <a:rPr lang="en-US" sz="2100" b="1" kern="0" spc="-42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real </a:t>
            </a:r>
            <a:r>
              <a:rPr lang="en-US" sz="2100" b="1" kern="0" spc="-42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30" name="Text 22"/>
          <p:cNvSpPr/>
          <p:nvPr/>
        </p:nvSpPr>
        <p:spPr>
          <a:xfrm>
            <a:off x="13463112" y="6863090"/>
            <a:ext cx="3523040" cy="713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Coleiras inteligentes lêem temperatura, frequência cardíaca e movimento de cada vaca — direto no seu bolso.</a:t>
            </a:r>
            <a:endParaRPr lang="en-US" sz="1125" dirty="0"/>
          </a:p>
        </p:txBody>
      </p:sp>
      <p:sp>
        <p:nvSpPr>
          <p:cNvPr id="31" name="Shape 23"/>
          <p:cNvSpPr/>
          <p:nvPr/>
        </p:nvSpPr>
        <p:spPr>
          <a:xfrm>
            <a:off x="13463112" y="8703944"/>
            <a:ext cx="240030" cy="40006"/>
          </a:xfrm>
          <a:prstGeom prst="roundRect">
            <a:avLst>
              <a:gd name="adj" fmla="val 50000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4"/>
          <p:cNvSpPr/>
          <p:nvPr/>
        </p:nvSpPr>
        <p:spPr>
          <a:xfrm>
            <a:off x="13763149" y="8703944"/>
            <a:ext cx="40005" cy="40006"/>
          </a:xfrm>
          <a:prstGeom prst="ellipse">
            <a:avLst/>
          </a:prstGeom>
          <a:solidFill>
            <a:srgbClr val="3638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25"/>
          <p:cNvSpPr/>
          <p:nvPr/>
        </p:nvSpPr>
        <p:spPr>
          <a:xfrm>
            <a:off x="13863162" y="8703944"/>
            <a:ext cx="40005" cy="40006"/>
          </a:xfrm>
          <a:prstGeom prst="ellipse">
            <a:avLst/>
          </a:prstGeom>
          <a:solidFill>
            <a:srgbClr val="3638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26"/>
          <p:cNvSpPr/>
          <p:nvPr/>
        </p:nvSpPr>
        <p:spPr>
          <a:xfrm>
            <a:off x="15644633" y="8483917"/>
            <a:ext cx="1238906" cy="480060"/>
          </a:xfrm>
          <a:prstGeom prst="roundRect">
            <a:avLst>
              <a:gd name="adj" fmla="val 2381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44658" y="8633936"/>
            <a:ext cx="180023" cy="180023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6066591" y="8618934"/>
            <a:ext cx="655023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</a:t>
            </a:r>
            <a:endParaRPr lang="en-US" sz="1125" dirty="0"/>
          </a:p>
        </p:txBody>
      </p:sp>
      <p:sp>
        <p:nvSpPr>
          <p:cNvPr id="37" name="Shape 28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14801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03 · LOGIN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529013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é uma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reta.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20541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 + senha. Chips de papel selecionam o perfil ativo (RF12). Botões alternativos abaixo: cadastrar e recuperar senha.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4531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48px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uso com luva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8722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primário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Verdigris · alto contraste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1564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08:42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13223081" y="1463040"/>
            <a:ext cx="3900488" cy="7900988"/>
          </a:xfrm>
          <a:prstGeom prst="rect">
            <a:avLst/>
          </a:prstGeom>
          <a:solidFill>
            <a:srgbClr val="339989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3112" y="1783080"/>
            <a:ext cx="280034" cy="2800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43159" y="1808083"/>
            <a:ext cx="1193840" cy="268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CowHealth</a:t>
            </a:r>
            <a:r>
              <a:rPr lang="en-US" sz="1350" b="1" kern="0" spc="-13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463112" y="2423160"/>
            <a:ext cx="3523040" cy="337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kern="0" spc="-39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Bem-vindo de volta</a:t>
            </a:r>
            <a:endParaRPr lang="en-US" sz="1950" dirty="0"/>
          </a:p>
        </p:txBody>
      </p:sp>
      <p:sp>
        <p:nvSpPr>
          <p:cNvPr id="19" name="Text 14"/>
          <p:cNvSpPr/>
          <p:nvPr/>
        </p:nvSpPr>
        <p:spPr>
          <a:xfrm>
            <a:off x="13463112" y="2782111"/>
            <a:ext cx="352304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para acompanhar o rebanho da FEGA.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3463112" y="3222166"/>
            <a:ext cx="352304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 OU E-MAIL</a:t>
            </a:r>
            <a:endParaRPr lang="en-US" sz="825" dirty="0"/>
          </a:p>
        </p:txBody>
      </p:sp>
      <p:sp>
        <p:nvSpPr>
          <p:cNvPr id="21" name="Shape 16"/>
          <p:cNvSpPr/>
          <p:nvPr/>
        </p:nvSpPr>
        <p:spPr>
          <a:xfrm>
            <a:off x="13463112" y="3432193"/>
            <a:ext cx="3420427" cy="480060"/>
          </a:xfrm>
          <a:prstGeom prst="roundRect">
            <a:avLst>
              <a:gd name="adj" fmla="val 2381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3131" y="3582211"/>
            <a:ext cx="180022" cy="1800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893165" y="3587212"/>
            <a:ext cx="2925566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ana.lima@fega.pucpr.br</a:t>
            </a:r>
            <a:endParaRPr lang="en-US" sz="1125" dirty="0"/>
          </a:p>
        </p:txBody>
      </p:sp>
      <p:sp>
        <p:nvSpPr>
          <p:cNvPr id="24" name="Text 18"/>
          <p:cNvSpPr/>
          <p:nvPr/>
        </p:nvSpPr>
        <p:spPr>
          <a:xfrm>
            <a:off x="13463112" y="4052270"/>
            <a:ext cx="352304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</a:t>
            </a:r>
            <a:endParaRPr lang="en-US" sz="825" dirty="0"/>
          </a:p>
        </p:txBody>
      </p:sp>
      <p:sp>
        <p:nvSpPr>
          <p:cNvPr id="25" name="Shape 19"/>
          <p:cNvSpPr/>
          <p:nvPr/>
        </p:nvSpPr>
        <p:spPr>
          <a:xfrm>
            <a:off x="13463112" y="4262296"/>
            <a:ext cx="3420427" cy="480060"/>
          </a:xfrm>
          <a:prstGeom prst="roundRect">
            <a:avLst>
              <a:gd name="adj" fmla="val 2381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3131" y="4412315"/>
            <a:ext cx="180022" cy="18002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893165" y="4417316"/>
            <a:ext cx="263713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••••••••••</a:t>
            </a:r>
            <a:endParaRPr lang="en-US" sz="1125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53498" y="4412315"/>
            <a:ext cx="180023" cy="18002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13463112" y="4862371"/>
            <a:ext cx="180022" cy="180022"/>
          </a:xfrm>
          <a:prstGeom prst="roundRect">
            <a:avLst>
              <a:gd name="adj" fmla="val 26455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93115" y="4892375"/>
            <a:ext cx="120016" cy="12001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3723144" y="4877373"/>
            <a:ext cx="111711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conectado</a:t>
            </a:r>
            <a:endParaRPr lang="en-US" sz="975" dirty="0"/>
          </a:p>
        </p:txBody>
      </p:sp>
      <p:sp>
        <p:nvSpPr>
          <p:cNvPr id="32" name="Text 23"/>
          <p:cNvSpPr/>
          <p:nvPr/>
        </p:nvSpPr>
        <p:spPr>
          <a:xfrm>
            <a:off x="15890134" y="4862371"/>
            <a:ext cx="1069606" cy="2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Esqueci a senha</a:t>
            </a:r>
            <a:endParaRPr lang="en-US" sz="975" dirty="0"/>
          </a:p>
        </p:txBody>
      </p:sp>
      <p:sp>
        <p:nvSpPr>
          <p:cNvPr id="33" name="Shape 24"/>
          <p:cNvSpPr/>
          <p:nvPr/>
        </p:nvSpPr>
        <p:spPr>
          <a:xfrm>
            <a:off x="13463112" y="5282423"/>
            <a:ext cx="3420427" cy="560070"/>
          </a:xfrm>
          <a:prstGeom prst="roundRect">
            <a:avLst>
              <a:gd name="adj" fmla="val 20408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25"/>
          <p:cNvSpPr/>
          <p:nvPr/>
        </p:nvSpPr>
        <p:spPr>
          <a:xfrm>
            <a:off x="14916448" y="5457445"/>
            <a:ext cx="513599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</a:t>
            </a:r>
            <a:endParaRPr lang="en-US" sz="1125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13674" y="6052520"/>
            <a:ext cx="120015" cy="12001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4355596" y="6042518"/>
            <a:ext cx="1815324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Conexão criptografada · TLS 1.3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14151635" y="8873966"/>
            <a:ext cx="634297" cy="170021"/>
          </a:xfrm>
          <a:prstGeom prst="roundRect">
            <a:avLst>
              <a:gd name="adj" fmla="val 5000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28"/>
          <p:cNvSpPr/>
          <p:nvPr/>
        </p:nvSpPr>
        <p:spPr>
          <a:xfrm>
            <a:off x="14231645" y="8903969"/>
            <a:ext cx="550478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</a:t>
            </a:r>
            <a:endParaRPr lang="en-US" sz="825" dirty="0"/>
          </a:p>
        </p:txBody>
      </p:sp>
      <p:sp>
        <p:nvSpPr>
          <p:cNvPr id="39" name="Shape 29"/>
          <p:cNvSpPr/>
          <p:nvPr/>
        </p:nvSpPr>
        <p:spPr>
          <a:xfrm>
            <a:off x="14865943" y="8873966"/>
            <a:ext cx="750251" cy="170021"/>
          </a:xfrm>
          <a:prstGeom prst="roundRect">
            <a:avLst>
              <a:gd name="adj" fmla="val 5000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0"/>
          <p:cNvSpPr/>
          <p:nvPr/>
        </p:nvSpPr>
        <p:spPr>
          <a:xfrm>
            <a:off x="14945953" y="8903969"/>
            <a:ext cx="666430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Veterinário</a:t>
            </a:r>
            <a:endParaRPr lang="en-US" sz="825" dirty="0"/>
          </a:p>
        </p:txBody>
      </p:sp>
      <p:sp>
        <p:nvSpPr>
          <p:cNvPr id="41" name="Shape 31"/>
          <p:cNvSpPr/>
          <p:nvPr/>
        </p:nvSpPr>
        <p:spPr>
          <a:xfrm>
            <a:off x="15696202" y="8873966"/>
            <a:ext cx="498813" cy="170021"/>
          </a:xfrm>
          <a:prstGeom prst="roundRect">
            <a:avLst>
              <a:gd name="adj" fmla="val 5000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32"/>
          <p:cNvSpPr/>
          <p:nvPr/>
        </p:nvSpPr>
        <p:spPr>
          <a:xfrm>
            <a:off x="15776213" y="8903969"/>
            <a:ext cx="414992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825" dirty="0"/>
          </a:p>
        </p:txBody>
      </p:sp>
      <p:sp>
        <p:nvSpPr>
          <p:cNvPr id="43" name="Shape 33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1668066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Parte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3956596"/>
            <a:ext cx="1373505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do </a:t>
            </a:r>
            <a:r>
              <a:rPr lang="en-US" sz="12000" b="1" kern="0" spc="-42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7704386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rebanho, detalhe da vaca e histórico. O caminho de 3 cliques entre o sintoma e o dado.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14801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04 · HOME / DASHBOARD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529013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fazenda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numa olhada.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20541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hero (animais saudáveis), card de alerta crítico em destaque, atalhos para rebanho e mapa, e estado do rebanho próximo ao parto.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4531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crítico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acima da dobra · Pearl Aqua sobre Verdigris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8722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Sincronização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badge de offline e timestamp da última coleta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3127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08:43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13383102" y="1543050"/>
            <a:ext cx="400050" cy="400050"/>
          </a:xfrm>
          <a:prstGeom prst="ellipse">
            <a:avLst/>
          </a:prstGeom>
          <a:solidFill>
            <a:srgbClr val="4F6E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13488896" y="1638062"/>
            <a:ext cx="264505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3863162" y="1558052"/>
            <a:ext cx="2296477" cy="25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Olá, Ana</a:t>
            </a:r>
            <a:endParaRPr lang="en-US" sz="1275" dirty="0"/>
          </a:p>
        </p:txBody>
      </p:sp>
      <p:sp>
        <p:nvSpPr>
          <p:cNvPr id="18" name="Text 14"/>
          <p:cNvSpPr/>
          <p:nvPr/>
        </p:nvSpPr>
        <p:spPr>
          <a:xfrm>
            <a:off x="13863162" y="1788081"/>
            <a:ext cx="2296477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Fazenda Gralha Azul · 50 vacas</a:t>
            </a:r>
            <a:endParaRPr lang="en-US" sz="9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3459" y="1643063"/>
            <a:ext cx="200025" cy="200025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83514" y="1643063"/>
            <a:ext cx="200025" cy="20002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6823531" y="1623060"/>
            <a:ext cx="80010" cy="80010"/>
          </a:xfrm>
          <a:prstGeom prst="ellipse">
            <a:avLst/>
          </a:prstGeom>
          <a:solidFill>
            <a:srgbClr val="E87C5C"/>
          </a:solidFill>
          <a:ln/>
          <a:effectLst>
            <a:outerShdw blurRad="101600" dist="50800" dir="16200000" algn="bl" rotWithShape="0">
              <a:srgbClr val="131515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13383102" y="2043113"/>
            <a:ext cx="3580447" cy="1890236"/>
          </a:xfrm>
          <a:prstGeom prst="roundRect">
            <a:avLst>
              <a:gd name="adj" fmla="val 8062"/>
            </a:avLst>
          </a:prstGeom>
          <a:solidFill>
            <a:srgbClr val="1B1D1D"/>
          </a:solidFill>
          <a:ln w="9525">
            <a:solidFill>
              <a:srgbClr val="339989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7"/>
          <p:cNvSpPr/>
          <p:nvPr/>
        </p:nvSpPr>
        <p:spPr>
          <a:xfrm>
            <a:off x="13573125" y="2233136"/>
            <a:ext cx="1291664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DO REBANHO</a:t>
            </a:r>
            <a:endParaRPr lang="en-US" sz="825" dirty="0"/>
          </a:p>
        </p:txBody>
      </p:sp>
      <p:sp>
        <p:nvSpPr>
          <p:cNvPr id="24" name="Text 18"/>
          <p:cNvSpPr/>
          <p:nvPr/>
        </p:nvSpPr>
        <p:spPr>
          <a:xfrm>
            <a:off x="13573125" y="2423160"/>
            <a:ext cx="1291664" cy="49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r>
              <a:rPr lang="en-US" sz="1350" b="1" kern="0" spc="-54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2700" dirty="0"/>
          </a:p>
        </p:txBody>
      </p:sp>
      <p:sp>
        <p:nvSpPr>
          <p:cNvPr id="25" name="Shape 19"/>
          <p:cNvSpPr/>
          <p:nvPr/>
        </p:nvSpPr>
        <p:spPr>
          <a:xfrm>
            <a:off x="15802466" y="2233136"/>
            <a:ext cx="971059" cy="170021"/>
          </a:xfrm>
          <a:prstGeom prst="roundRect">
            <a:avLst>
              <a:gd name="adj" fmla="val 50000"/>
            </a:avLst>
          </a:prstGeom>
          <a:solidFill>
            <a:srgbClr val="7DE2D1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82476" y="2263140"/>
            <a:ext cx="110014" cy="11001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52497" y="2263140"/>
            <a:ext cx="717218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 vs ontem</a:t>
            </a:r>
            <a:endParaRPr lang="en-US" sz="825" dirty="0"/>
          </a:p>
        </p:txBody>
      </p:sp>
      <p:sp>
        <p:nvSpPr>
          <p:cNvPr id="28" name="Shape 21"/>
          <p:cNvSpPr/>
          <p:nvPr/>
        </p:nvSpPr>
        <p:spPr>
          <a:xfrm>
            <a:off x="13573125" y="3043238"/>
            <a:ext cx="1000125" cy="700088"/>
          </a:xfrm>
          <a:prstGeom prst="roundRect">
            <a:avLst>
              <a:gd name="adj" fmla="val 16327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2"/>
          <p:cNvSpPr/>
          <p:nvPr/>
        </p:nvSpPr>
        <p:spPr>
          <a:xfrm>
            <a:off x="13703141" y="3193256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3"/>
          <p:cNvSpPr/>
          <p:nvPr/>
        </p:nvSpPr>
        <p:spPr>
          <a:xfrm>
            <a:off x="13843159" y="3173254"/>
            <a:ext cx="59001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Saudáveis</a:t>
            </a:r>
            <a:endParaRPr lang="en-US" sz="825" dirty="0"/>
          </a:p>
        </p:txBody>
      </p:sp>
      <p:sp>
        <p:nvSpPr>
          <p:cNvPr id="31" name="Text 24"/>
          <p:cNvSpPr/>
          <p:nvPr/>
        </p:nvSpPr>
        <p:spPr>
          <a:xfrm>
            <a:off x="13703141" y="3333274"/>
            <a:ext cx="816292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650" dirty="0"/>
          </a:p>
        </p:txBody>
      </p:sp>
      <p:sp>
        <p:nvSpPr>
          <p:cNvPr id="32" name="Shape 25"/>
          <p:cNvSpPr/>
          <p:nvPr/>
        </p:nvSpPr>
        <p:spPr>
          <a:xfrm>
            <a:off x="14673263" y="3043238"/>
            <a:ext cx="1000125" cy="700088"/>
          </a:xfrm>
          <a:prstGeom prst="roundRect">
            <a:avLst>
              <a:gd name="adj" fmla="val 16327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26"/>
          <p:cNvSpPr/>
          <p:nvPr/>
        </p:nvSpPr>
        <p:spPr>
          <a:xfrm>
            <a:off x="14803279" y="3193256"/>
            <a:ext cx="80010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27"/>
          <p:cNvSpPr/>
          <p:nvPr/>
        </p:nvSpPr>
        <p:spPr>
          <a:xfrm>
            <a:off x="14943296" y="3173254"/>
            <a:ext cx="480001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</a:t>
            </a:r>
            <a:endParaRPr lang="en-US" sz="825" dirty="0"/>
          </a:p>
        </p:txBody>
      </p:sp>
      <p:sp>
        <p:nvSpPr>
          <p:cNvPr id="35" name="Text 28"/>
          <p:cNvSpPr/>
          <p:nvPr/>
        </p:nvSpPr>
        <p:spPr>
          <a:xfrm>
            <a:off x="14803279" y="3333274"/>
            <a:ext cx="816292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36" name="Shape 29"/>
          <p:cNvSpPr/>
          <p:nvPr/>
        </p:nvSpPr>
        <p:spPr>
          <a:xfrm>
            <a:off x="15773400" y="3043238"/>
            <a:ext cx="1000125" cy="700088"/>
          </a:xfrm>
          <a:prstGeom prst="roundRect">
            <a:avLst>
              <a:gd name="adj" fmla="val 16327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0"/>
          <p:cNvSpPr/>
          <p:nvPr/>
        </p:nvSpPr>
        <p:spPr>
          <a:xfrm>
            <a:off x="15903416" y="3193256"/>
            <a:ext cx="80010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1"/>
          <p:cNvSpPr/>
          <p:nvPr/>
        </p:nvSpPr>
        <p:spPr>
          <a:xfrm>
            <a:off x="16043434" y="3173254"/>
            <a:ext cx="44906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Críticas</a:t>
            </a:r>
            <a:endParaRPr lang="en-US" sz="825" dirty="0"/>
          </a:p>
        </p:txBody>
      </p:sp>
      <p:sp>
        <p:nvSpPr>
          <p:cNvPr id="39" name="Text 32"/>
          <p:cNvSpPr/>
          <p:nvPr/>
        </p:nvSpPr>
        <p:spPr>
          <a:xfrm>
            <a:off x="15903416" y="3333274"/>
            <a:ext cx="816292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40" name="Shape 33"/>
          <p:cNvSpPr/>
          <p:nvPr/>
        </p:nvSpPr>
        <p:spPr>
          <a:xfrm>
            <a:off x="13383102" y="4073366"/>
            <a:ext cx="3580447" cy="1723966"/>
          </a:xfrm>
          <a:prstGeom prst="roundRect">
            <a:avLst>
              <a:gd name="adj" fmla="val 8840"/>
            </a:avLst>
          </a:prstGeom>
          <a:solidFill>
            <a:srgbClr val="1B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4"/>
          <p:cNvSpPr/>
          <p:nvPr/>
        </p:nvSpPr>
        <p:spPr>
          <a:xfrm>
            <a:off x="13383102" y="5787807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35"/>
          <p:cNvSpPr/>
          <p:nvPr/>
        </p:nvSpPr>
        <p:spPr>
          <a:xfrm>
            <a:off x="13383102" y="4073366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36"/>
          <p:cNvSpPr/>
          <p:nvPr/>
        </p:nvSpPr>
        <p:spPr>
          <a:xfrm>
            <a:off x="13383102" y="4073366"/>
            <a:ext cx="28575" cy="1723966"/>
          </a:xfrm>
          <a:prstGeom prst="rect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37"/>
          <p:cNvSpPr/>
          <p:nvPr/>
        </p:nvSpPr>
        <p:spPr>
          <a:xfrm>
            <a:off x="16954023" y="4073366"/>
            <a:ext cx="9525" cy="1723966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73125" y="4253389"/>
            <a:ext cx="160020" cy="1600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3813156" y="4243388"/>
            <a:ext cx="1183994" cy="2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E87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CRÍTICO</a:t>
            </a:r>
            <a:endParaRPr lang="en-US" sz="975" dirty="0"/>
          </a:p>
        </p:txBody>
      </p:sp>
      <p:sp>
        <p:nvSpPr>
          <p:cNvPr id="47" name="Text 39"/>
          <p:cNvSpPr/>
          <p:nvPr/>
        </p:nvSpPr>
        <p:spPr>
          <a:xfrm>
            <a:off x="16265336" y="4273391"/>
            <a:ext cx="604391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1 min</a:t>
            </a:r>
            <a:endParaRPr lang="en-US" sz="825" dirty="0"/>
          </a:p>
        </p:txBody>
      </p:sp>
      <p:sp>
        <p:nvSpPr>
          <p:cNvPr id="48" name="Text 40"/>
          <p:cNvSpPr/>
          <p:nvPr/>
        </p:nvSpPr>
        <p:spPr>
          <a:xfrm>
            <a:off x="13573125" y="4523422"/>
            <a:ext cx="3317014" cy="25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Estrela está com febre</a:t>
            </a:r>
            <a:endParaRPr lang="en-US" sz="1275" dirty="0"/>
          </a:p>
        </p:txBody>
      </p:sp>
      <p:sp>
        <p:nvSpPr>
          <p:cNvPr id="49" name="Text 41"/>
          <p:cNvSpPr/>
          <p:nvPr/>
        </p:nvSpPr>
        <p:spPr>
          <a:xfrm>
            <a:off x="13573125" y="4783455"/>
            <a:ext cx="3317014" cy="40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 40.2 °C, FC 96 bpm. Recomenda-se avaliação veterinária imediata.</a:t>
            </a:r>
            <a:endParaRPr lang="en-US" sz="975" dirty="0"/>
          </a:p>
        </p:txBody>
      </p:sp>
      <p:sp>
        <p:nvSpPr>
          <p:cNvPr id="50" name="Shape 42"/>
          <p:cNvSpPr/>
          <p:nvPr/>
        </p:nvSpPr>
        <p:spPr>
          <a:xfrm>
            <a:off x="13573125" y="5267266"/>
            <a:ext cx="988249" cy="360044"/>
          </a:xfrm>
          <a:prstGeom prst="roundRect">
            <a:avLst>
              <a:gd name="adj" fmla="val 31746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3"/>
          <p:cNvSpPr/>
          <p:nvPr/>
        </p:nvSpPr>
        <p:spPr>
          <a:xfrm>
            <a:off x="13735050" y="5342275"/>
            <a:ext cx="664399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vaca</a:t>
            </a:r>
            <a:endParaRPr lang="en-US" sz="1125" dirty="0"/>
          </a:p>
        </p:txBody>
      </p:sp>
      <p:sp>
        <p:nvSpPr>
          <p:cNvPr id="52" name="Shape 44"/>
          <p:cNvSpPr/>
          <p:nvPr/>
        </p:nvSpPr>
        <p:spPr>
          <a:xfrm>
            <a:off x="14641383" y="5267266"/>
            <a:ext cx="789474" cy="360044"/>
          </a:xfrm>
          <a:prstGeom prst="roundRect">
            <a:avLst>
              <a:gd name="adj" fmla="val 31746"/>
            </a:avLst>
          </a:prstGeom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45"/>
          <p:cNvSpPr/>
          <p:nvPr/>
        </p:nvSpPr>
        <p:spPr>
          <a:xfrm>
            <a:off x="14813310" y="5342275"/>
            <a:ext cx="445622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Adiar</a:t>
            </a:r>
            <a:endParaRPr lang="en-US" sz="1125" dirty="0"/>
          </a:p>
        </p:txBody>
      </p:sp>
      <p:sp>
        <p:nvSpPr>
          <p:cNvPr id="54" name="Text 46"/>
          <p:cNvSpPr/>
          <p:nvPr/>
        </p:nvSpPr>
        <p:spPr>
          <a:xfrm>
            <a:off x="13383102" y="5977354"/>
            <a:ext cx="1100547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rápido</a:t>
            </a:r>
            <a:endParaRPr lang="en-US" sz="1125" dirty="0"/>
          </a:p>
        </p:txBody>
      </p:sp>
      <p:sp>
        <p:nvSpPr>
          <p:cNvPr id="55" name="Text 47"/>
          <p:cNvSpPr/>
          <p:nvPr/>
        </p:nvSpPr>
        <p:spPr>
          <a:xfrm>
            <a:off x="16482551" y="5987355"/>
            <a:ext cx="557197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tudo</a:t>
            </a:r>
            <a:endParaRPr lang="en-US" sz="900" dirty="0"/>
          </a:p>
        </p:txBody>
      </p:sp>
      <p:sp>
        <p:nvSpPr>
          <p:cNvPr id="56" name="Shape 48"/>
          <p:cNvSpPr/>
          <p:nvPr/>
        </p:nvSpPr>
        <p:spPr>
          <a:xfrm>
            <a:off x="13383102" y="6307395"/>
            <a:ext cx="1740217" cy="1090136"/>
          </a:xfrm>
          <a:prstGeom prst="roundRect">
            <a:avLst>
              <a:gd name="adj" fmla="val 1398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49"/>
          <p:cNvSpPr/>
          <p:nvPr/>
        </p:nvSpPr>
        <p:spPr>
          <a:xfrm>
            <a:off x="13533120" y="6457414"/>
            <a:ext cx="360044" cy="360045"/>
          </a:xfrm>
          <a:prstGeom prst="roundRect">
            <a:avLst>
              <a:gd name="adj" fmla="val 26455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23131" y="6547426"/>
            <a:ext cx="180023" cy="180022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13533120" y="6917472"/>
            <a:ext cx="1516380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1050" dirty="0"/>
          </a:p>
        </p:txBody>
      </p:sp>
      <p:sp>
        <p:nvSpPr>
          <p:cNvPr id="60" name="Text 51"/>
          <p:cNvSpPr/>
          <p:nvPr/>
        </p:nvSpPr>
        <p:spPr>
          <a:xfrm>
            <a:off x="13533120" y="7127498"/>
            <a:ext cx="151638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vacas</a:t>
            </a:r>
            <a:endParaRPr lang="en-US" sz="825" dirty="0"/>
          </a:p>
        </p:txBody>
      </p:sp>
      <p:sp>
        <p:nvSpPr>
          <p:cNvPr id="61" name="Shape 52"/>
          <p:cNvSpPr/>
          <p:nvPr/>
        </p:nvSpPr>
        <p:spPr>
          <a:xfrm>
            <a:off x="15223331" y="6307395"/>
            <a:ext cx="1740217" cy="1090136"/>
          </a:xfrm>
          <a:prstGeom prst="roundRect">
            <a:avLst>
              <a:gd name="adj" fmla="val 1398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Shape 53"/>
          <p:cNvSpPr/>
          <p:nvPr/>
        </p:nvSpPr>
        <p:spPr>
          <a:xfrm>
            <a:off x="15373350" y="6457414"/>
            <a:ext cx="360045" cy="360045"/>
          </a:xfrm>
          <a:prstGeom prst="roundRect">
            <a:avLst>
              <a:gd name="adj" fmla="val 26455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63361" y="6547426"/>
            <a:ext cx="180023" cy="180022"/>
          </a:xfrm>
          <a:prstGeom prst="rect">
            <a:avLst/>
          </a:prstGeom>
        </p:spPr>
      </p:pic>
      <p:sp>
        <p:nvSpPr>
          <p:cNvPr id="64" name="Text 54"/>
          <p:cNvSpPr/>
          <p:nvPr/>
        </p:nvSpPr>
        <p:spPr>
          <a:xfrm>
            <a:off x="15373350" y="6917472"/>
            <a:ext cx="1516380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1050" dirty="0"/>
          </a:p>
        </p:txBody>
      </p:sp>
      <p:sp>
        <p:nvSpPr>
          <p:cNvPr id="65" name="Text 55"/>
          <p:cNvSpPr/>
          <p:nvPr/>
        </p:nvSpPr>
        <p:spPr>
          <a:xfrm>
            <a:off x="15373350" y="7127498"/>
            <a:ext cx="151638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piquetes</a:t>
            </a:r>
            <a:endParaRPr lang="en-US" sz="825" dirty="0"/>
          </a:p>
        </p:txBody>
      </p:sp>
      <p:sp>
        <p:nvSpPr>
          <p:cNvPr id="66" name="Shape 56"/>
          <p:cNvSpPr/>
          <p:nvPr/>
        </p:nvSpPr>
        <p:spPr>
          <a:xfrm>
            <a:off x="13383102" y="7497544"/>
            <a:ext cx="1740217" cy="1090137"/>
          </a:xfrm>
          <a:prstGeom prst="roundRect">
            <a:avLst>
              <a:gd name="adj" fmla="val 1398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57"/>
          <p:cNvSpPr/>
          <p:nvPr/>
        </p:nvSpPr>
        <p:spPr>
          <a:xfrm>
            <a:off x="13533120" y="7647562"/>
            <a:ext cx="360044" cy="360045"/>
          </a:xfrm>
          <a:prstGeom prst="roundRect">
            <a:avLst>
              <a:gd name="adj" fmla="val 26455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23131" y="7737574"/>
            <a:ext cx="180023" cy="180023"/>
          </a:xfrm>
          <a:prstGeom prst="rect">
            <a:avLst/>
          </a:prstGeom>
        </p:spPr>
      </p:pic>
      <p:sp>
        <p:nvSpPr>
          <p:cNvPr id="69" name="Text 58"/>
          <p:cNvSpPr/>
          <p:nvPr/>
        </p:nvSpPr>
        <p:spPr>
          <a:xfrm>
            <a:off x="13533120" y="8107620"/>
            <a:ext cx="1516380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1050" dirty="0"/>
          </a:p>
        </p:txBody>
      </p:sp>
      <p:sp>
        <p:nvSpPr>
          <p:cNvPr id="70" name="Text 59"/>
          <p:cNvSpPr/>
          <p:nvPr/>
        </p:nvSpPr>
        <p:spPr>
          <a:xfrm>
            <a:off x="13533120" y="8317647"/>
            <a:ext cx="151638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meses</a:t>
            </a:r>
            <a:endParaRPr lang="en-US" sz="825" dirty="0"/>
          </a:p>
        </p:txBody>
      </p:sp>
      <p:sp>
        <p:nvSpPr>
          <p:cNvPr id="71" name="Shape 60"/>
          <p:cNvSpPr/>
          <p:nvPr/>
        </p:nvSpPr>
        <p:spPr>
          <a:xfrm>
            <a:off x="15223331" y="7497544"/>
            <a:ext cx="1740217" cy="1090137"/>
          </a:xfrm>
          <a:prstGeom prst="roundRect">
            <a:avLst>
              <a:gd name="adj" fmla="val 1398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Shape 61"/>
          <p:cNvSpPr/>
          <p:nvPr/>
        </p:nvSpPr>
        <p:spPr>
          <a:xfrm>
            <a:off x="15373350" y="7647562"/>
            <a:ext cx="360045" cy="360045"/>
          </a:xfrm>
          <a:prstGeom prst="roundRect">
            <a:avLst>
              <a:gd name="adj" fmla="val 26455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463361" y="7737574"/>
            <a:ext cx="180023" cy="180023"/>
          </a:xfrm>
          <a:prstGeom prst="rect">
            <a:avLst/>
          </a:prstGeom>
        </p:spPr>
      </p:pic>
      <p:sp>
        <p:nvSpPr>
          <p:cNvPr id="74" name="Text 62"/>
          <p:cNvSpPr/>
          <p:nvPr/>
        </p:nvSpPr>
        <p:spPr>
          <a:xfrm>
            <a:off x="15373350" y="8107620"/>
            <a:ext cx="1516380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</a:t>
            </a:r>
            <a:endParaRPr lang="en-US" sz="1050" dirty="0"/>
          </a:p>
        </p:txBody>
      </p:sp>
      <p:sp>
        <p:nvSpPr>
          <p:cNvPr id="75" name="Text 63"/>
          <p:cNvSpPr/>
          <p:nvPr/>
        </p:nvSpPr>
        <p:spPr>
          <a:xfrm>
            <a:off x="15373350" y="8317647"/>
            <a:ext cx="151638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JSON</a:t>
            </a:r>
            <a:endParaRPr lang="en-US" sz="825" dirty="0"/>
          </a:p>
        </p:txBody>
      </p:sp>
      <p:sp>
        <p:nvSpPr>
          <p:cNvPr id="76" name="Shape 64"/>
          <p:cNvSpPr/>
          <p:nvPr/>
        </p:nvSpPr>
        <p:spPr>
          <a:xfrm>
            <a:off x="13383102" y="8727698"/>
            <a:ext cx="3580447" cy="1620202"/>
          </a:xfrm>
          <a:prstGeom prst="roundRect">
            <a:avLst>
              <a:gd name="adj" fmla="val 9406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Text 65"/>
          <p:cNvSpPr/>
          <p:nvPr/>
        </p:nvSpPr>
        <p:spPr>
          <a:xfrm>
            <a:off x="13553123" y="8897719"/>
            <a:ext cx="1018505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Pré-parto (2)</a:t>
            </a:r>
            <a:endParaRPr lang="en-US" sz="1125" dirty="0"/>
          </a:p>
        </p:txBody>
      </p:sp>
      <p:sp>
        <p:nvSpPr>
          <p:cNvPr id="78" name="Shape 66"/>
          <p:cNvSpPr/>
          <p:nvPr/>
        </p:nvSpPr>
        <p:spPr>
          <a:xfrm>
            <a:off x="16100316" y="8897719"/>
            <a:ext cx="693211" cy="190024"/>
          </a:xfrm>
          <a:prstGeom prst="roundRect">
            <a:avLst>
              <a:gd name="adj" fmla="val 50000"/>
            </a:avLst>
          </a:prstGeom>
          <a:solidFill>
            <a:srgbClr val="E8C66B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180326" y="8937724"/>
            <a:ext cx="110013" cy="110013"/>
          </a:xfrm>
          <a:prstGeom prst="rect">
            <a:avLst/>
          </a:prstGeom>
        </p:spPr>
      </p:pic>
      <p:sp>
        <p:nvSpPr>
          <p:cNvPr id="80" name="Text 67"/>
          <p:cNvSpPr/>
          <p:nvPr/>
        </p:nvSpPr>
        <p:spPr>
          <a:xfrm>
            <a:off x="16350347" y="8937724"/>
            <a:ext cx="439370" cy="14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E8C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825" dirty="0"/>
          </a:p>
        </p:txBody>
      </p:sp>
      <p:sp>
        <p:nvSpPr>
          <p:cNvPr id="81" name="Text 68"/>
          <p:cNvSpPr/>
          <p:nvPr/>
        </p:nvSpPr>
        <p:spPr>
          <a:xfrm>
            <a:off x="13553123" y="9167753"/>
            <a:ext cx="3337617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Piquete sem cobertura Wi-Fi · sincronização ao retornar.</a:t>
            </a:r>
            <a:endParaRPr lang="en-US" sz="900" dirty="0"/>
          </a:p>
        </p:txBody>
      </p:sp>
      <p:sp>
        <p:nvSpPr>
          <p:cNvPr id="82" name="Shape 69"/>
          <p:cNvSpPr/>
          <p:nvPr/>
        </p:nvSpPr>
        <p:spPr>
          <a:xfrm>
            <a:off x="13553123" y="9427785"/>
            <a:ext cx="1580198" cy="750094"/>
          </a:xfrm>
          <a:prstGeom prst="roundRect">
            <a:avLst>
              <a:gd name="adj" fmla="val 12698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Text 70"/>
          <p:cNvSpPr/>
          <p:nvPr/>
        </p:nvSpPr>
        <p:spPr>
          <a:xfrm>
            <a:off x="13663137" y="9537799"/>
            <a:ext cx="1436369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Mocinha</a:t>
            </a:r>
            <a:endParaRPr lang="en-US" sz="975" dirty="0"/>
          </a:p>
        </p:txBody>
      </p:sp>
      <p:sp>
        <p:nvSpPr>
          <p:cNvPr id="84" name="Text 71"/>
          <p:cNvSpPr/>
          <p:nvPr/>
        </p:nvSpPr>
        <p:spPr>
          <a:xfrm>
            <a:off x="13663137" y="9737824"/>
            <a:ext cx="1436369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#022</a:t>
            </a:r>
            <a:endParaRPr lang="en-US" sz="825" dirty="0"/>
          </a:p>
        </p:txBody>
      </p:sp>
      <p:sp>
        <p:nvSpPr>
          <p:cNvPr id="85" name="Text 72"/>
          <p:cNvSpPr/>
          <p:nvPr/>
        </p:nvSpPr>
        <p:spPr>
          <a:xfrm>
            <a:off x="13663137" y="9917847"/>
            <a:ext cx="1436369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39.4°C</a:t>
            </a:r>
            <a:endParaRPr lang="en-US" sz="975" dirty="0"/>
          </a:p>
        </p:txBody>
      </p:sp>
      <p:sp>
        <p:nvSpPr>
          <p:cNvPr id="86" name="Shape 73"/>
          <p:cNvSpPr/>
          <p:nvPr/>
        </p:nvSpPr>
        <p:spPr>
          <a:xfrm>
            <a:off x="15213330" y="9427785"/>
            <a:ext cx="1580198" cy="750094"/>
          </a:xfrm>
          <a:prstGeom prst="roundRect">
            <a:avLst>
              <a:gd name="adj" fmla="val 12698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7" name="Text 74"/>
          <p:cNvSpPr/>
          <p:nvPr/>
        </p:nvSpPr>
        <p:spPr>
          <a:xfrm>
            <a:off x="15323344" y="9537799"/>
            <a:ext cx="1436370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Brisa</a:t>
            </a:r>
            <a:endParaRPr lang="en-US" sz="975" dirty="0"/>
          </a:p>
        </p:txBody>
      </p:sp>
      <p:sp>
        <p:nvSpPr>
          <p:cNvPr id="88" name="Text 75"/>
          <p:cNvSpPr/>
          <p:nvPr/>
        </p:nvSpPr>
        <p:spPr>
          <a:xfrm>
            <a:off x="15323344" y="9737824"/>
            <a:ext cx="143637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#048</a:t>
            </a:r>
            <a:endParaRPr lang="en-US" sz="825" dirty="0"/>
          </a:p>
        </p:txBody>
      </p:sp>
      <p:sp>
        <p:nvSpPr>
          <p:cNvPr id="89" name="Text 76"/>
          <p:cNvSpPr/>
          <p:nvPr/>
        </p:nvSpPr>
        <p:spPr>
          <a:xfrm>
            <a:off x="15323344" y="9917847"/>
            <a:ext cx="143637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39.6°C</a:t>
            </a:r>
            <a:endParaRPr lang="en-US" sz="975" dirty="0"/>
          </a:p>
        </p:txBody>
      </p:sp>
      <p:sp>
        <p:nvSpPr>
          <p:cNvPr id="90" name="Shape 77"/>
          <p:cNvSpPr/>
          <p:nvPr/>
        </p:nvSpPr>
        <p:spPr>
          <a:xfrm>
            <a:off x="13223081" y="8583930"/>
            <a:ext cx="3900488" cy="780098"/>
          </a:xfrm>
          <a:prstGeom prst="rect">
            <a:avLst/>
          </a:prstGeom>
          <a:solidFill>
            <a:srgbClr val="131515">
              <a:alpha val="9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1" name="Shape 78"/>
          <p:cNvSpPr/>
          <p:nvPr/>
        </p:nvSpPr>
        <p:spPr>
          <a:xfrm>
            <a:off x="13223081" y="8583930"/>
            <a:ext cx="3900488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2" name="Shape 79"/>
          <p:cNvSpPr/>
          <p:nvPr/>
        </p:nvSpPr>
        <p:spPr>
          <a:xfrm>
            <a:off x="13517025" y="8623935"/>
            <a:ext cx="320040" cy="350044"/>
          </a:xfrm>
          <a:prstGeom prst="roundRect">
            <a:avLst>
              <a:gd name="adj" fmla="val 35714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577032" y="8683942"/>
            <a:ext cx="200025" cy="200025"/>
          </a:xfrm>
          <a:prstGeom prst="rect">
            <a:avLst/>
          </a:prstGeom>
        </p:spPr>
      </p:pic>
      <p:sp>
        <p:nvSpPr>
          <p:cNvPr id="94" name="Text 80"/>
          <p:cNvSpPr/>
          <p:nvPr/>
        </p:nvSpPr>
        <p:spPr>
          <a:xfrm>
            <a:off x="13542497" y="8953976"/>
            <a:ext cx="345452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750" dirty="0"/>
          </a:p>
        </p:txBody>
      </p:sp>
      <p:pic>
        <p:nvPicPr>
          <p:cNvPr id="95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325250" y="8683942"/>
            <a:ext cx="200025" cy="200025"/>
          </a:xfrm>
          <a:prstGeom prst="rect">
            <a:avLst/>
          </a:prstGeom>
        </p:spPr>
      </p:pic>
      <p:sp>
        <p:nvSpPr>
          <p:cNvPr id="96" name="Text 81"/>
          <p:cNvSpPr/>
          <p:nvPr/>
        </p:nvSpPr>
        <p:spPr>
          <a:xfrm>
            <a:off x="14204922" y="8953976"/>
            <a:ext cx="516724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750" dirty="0"/>
          </a:p>
        </p:txBody>
      </p:sp>
      <p:pic>
        <p:nvPicPr>
          <p:cNvPr id="97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73313" y="8683942"/>
            <a:ext cx="200025" cy="200025"/>
          </a:xfrm>
          <a:prstGeom prst="rect">
            <a:avLst/>
          </a:prstGeom>
        </p:spPr>
      </p:pic>
      <p:sp>
        <p:nvSpPr>
          <p:cNvPr id="98" name="Text 82"/>
          <p:cNvSpPr/>
          <p:nvPr/>
        </p:nvSpPr>
        <p:spPr>
          <a:xfrm>
            <a:off x="14994552" y="8953976"/>
            <a:ext cx="4337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750" dirty="0"/>
          </a:p>
        </p:txBody>
      </p:sp>
      <p:pic>
        <p:nvPicPr>
          <p:cNvPr id="99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821375" y="8683942"/>
            <a:ext cx="200025" cy="200025"/>
          </a:xfrm>
          <a:prstGeom prst="rect">
            <a:avLst/>
          </a:prstGeom>
        </p:spPr>
      </p:pic>
      <p:sp>
        <p:nvSpPr>
          <p:cNvPr id="100" name="Text 83"/>
          <p:cNvSpPr/>
          <p:nvPr/>
        </p:nvSpPr>
        <p:spPr>
          <a:xfrm>
            <a:off x="15787464" y="8953976"/>
            <a:ext cx="3440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750" dirty="0"/>
          </a:p>
        </p:txBody>
      </p:sp>
      <p:pic>
        <p:nvPicPr>
          <p:cNvPr id="101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569437" y="8683942"/>
            <a:ext cx="200025" cy="200025"/>
          </a:xfrm>
          <a:prstGeom prst="rect">
            <a:avLst/>
          </a:prstGeom>
        </p:spPr>
      </p:pic>
      <p:sp>
        <p:nvSpPr>
          <p:cNvPr id="102" name="Text 84"/>
          <p:cNvSpPr/>
          <p:nvPr/>
        </p:nvSpPr>
        <p:spPr>
          <a:xfrm>
            <a:off x="16537558" y="8953976"/>
            <a:ext cx="340140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750" dirty="0"/>
          </a:p>
        </p:txBody>
      </p:sp>
      <p:sp>
        <p:nvSpPr>
          <p:cNvPr id="103" name="Shape 85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50996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05 · REBANHO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890962"/>
            <a:ext cx="745617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por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484346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animais ordenado pelo score de risco (RF27). Filtros por fazenda, lote e estado fisiológico (gestante, lactante, etc.).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09123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visual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barra horizontal por animal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51033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brinco eletrônico, nome ou ID do colar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3127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08:43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13383102" y="1543050"/>
            <a:ext cx="2781348" cy="25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1275" dirty="0"/>
          </a:p>
        </p:txBody>
      </p:sp>
      <p:sp>
        <p:nvSpPr>
          <p:cNvPr id="16" name="Text 12"/>
          <p:cNvSpPr/>
          <p:nvPr/>
        </p:nvSpPr>
        <p:spPr>
          <a:xfrm>
            <a:off x="13383102" y="1773079"/>
            <a:ext cx="2781348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vacas · FEGA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3459" y="1628061"/>
            <a:ext cx="200025" cy="200025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83514" y="1628061"/>
            <a:ext cx="200025" cy="20002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3383102" y="2013109"/>
            <a:ext cx="3580447" cy="440055"/>
          </a:xfrm>
          <a:prstGeom prst="roundRect">
            <a:avLst>
              <a:gd name="adj" fmla="val 25974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3120" y="2153126"/>
            <a:ext cx="160019" cy="1600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93152" y="2153126"/>
            <a:ext cx="267141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por nome ou brinco…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16486770" y="2138124"/>
            <a:ext cx="326759" cy="190024"/>
          </a:xfrm>
          <a:prstGeom prst="roundRect">
            <a:avLst>
              <a:gd name="adj" fmla="val 20050"/>
            </a:avLst>
          </a:prstGeom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6"/>
          <p:cNvSpPr/>
          <p:nvPr/>
        </p:nvSpPr>
        <p:spPr>
          <a:xfrm>
            <a:off x="16553445" y="2166699"/>
            <a:ext cx="269609" cy="1709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⌘K</a:t>
            </a:r>
            <a:endParaRPr lang="en-US" sz="825" dirty="0"/>
          </a:p>
        </p:txBody>
      </p:sp>
      <p:sp>
        <p:nvSpPr>
          <p:cNvPr id="24" name="Shape 17"/>
          <p:cNvSpPr/>
          <p:nvPr/>
        </p:nvSpPr>
        <p:spPr>
          <a:xfrm>
            <a:off x="13383102" y="2553176"/>
            <a:ext cx="827290" cy="330041"/>
          </a:xfrm>
          <a:prstGeom prst="roundRect">
            <a:avLst>
              <a:gd name="adj" fmla="val 50000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18"/>
          <p:cNvSpPr/>
          <p:nvPr/>
        </p:nvSpPr>
        <p:spPr>
          <a:xfrm>
            <a:off x="13506927" y="2629376"/>
            <a:ext cx="655840" cy="215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3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· 50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14270400" y="2553176"/>
            <a:ext cx="886985" cy="330041"/>
          </a:xfrm>
          <a:prstGeom prst="roundRect">
            <a:avLst>
              <a:gd name="adj" fmla="val 5000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0"/>
          <p:cNvSpPr/>
          <p:nvPr/>
        </p:nvSpPr>
        <p:spPr>
          <a:xfrm>
            <a:off x="14394225" y="2629376"/>
            <a:ext cx="715535" cy="215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· 4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15217393" y="2553176"/>
            <a:ext cx="857294" cy="330041"/>
          </a:xfrm>
          <a:prstGeom prst="roundRect">
            <a:avLst>
              <a:gd name="adj" fmla="val 5000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2"/>
          <p:cNvSpPr/>
          <p:nvPr/>
        </p:nvSpPr>
        <p:spPr>
          <a:xfrm>
            <a:off x="15341218" y="2629376"/>
            <a:ext cx="685844" cy="215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Críticas · 2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16134695" y="2553176"/>
            <a:ext cx="961213" cy="330041"/>
          </a:xfrm>
          <a:prstGeom prst="roundRect">
            <a:avLst>
              <a:gd name="adj" fmla="val 5000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4"/>
          <p:cNvSpPr/>
          <p:nvPr/>
        </p:nvSpPr>
        <p:spPr>
          <a:xfrm>
            <a:off x="16258520" y="2629376"/>
            <a:ext cx="789763" cy="215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Pré-parto · 2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17155917" y="2553176"/>
            <a:ext cx="867764" cy="330041"/>
          </a:xfrm>
          <a:prstGeom prst="roundRect">
            <a:avLst>
              <a:gd name="adj" fmla="val 5000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6"/>
          <p:cNvSpPr/>
          <p:nvPr/>
        </p:nvSpPr>
        <p:spPr>
          <a:xfrm>
            <a:off x="17279742" y="2629376"/>
            <a:ext cx="696314" cy="215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Estábulo A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13383102" y="3193256"/>
            <a:ext cx="3580447" cy="850106"/>
          </a:xfrm>
          <a:prstGeom prst="roundRect">
            <a:avLst>
              <a:gd name="adj" fmla="val 15686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28"/>
          <p:cNvSpPr/>
          <p:nvPr/>
        </p:nvSpPr>
        <p:spPr>
          <a:xfrm>
            <a:off x="13513118" y="3378280"/>
            <a:ext cx="480059" cy="48006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3131" y="3488293"/>
            <a:ext cx="260033" cy="260032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13893165" y="3718322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0"/>
          <p:cNvSpPr/>
          <p:nvPr/>
        </p:nvSpPr>
        <p:spPr>
          <a:xfrm>
            <a:off x="14113193" y="3323272"/>
            <a:ext cx="670336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Mimosa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14787339" y="3393281"/>
            <a:ext cx="340451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</a:t>
            </a:r>
            <a:endParaRPr lang="en-US" sz="825" dirty="0"/>
          </a:p>
        </p:txBody>
      </p:sp>
      <p:sp>
        <p:nvSpPr>
          <p:cNvPr id="40" name="Text 32"/>
          <p:cNvSpPr/>
          <p:nvPr/>
        </p:nvSpPr>
        <p:spPr>
          <a:xfrm>
            <a:off x="14113193" y="3553301"/>
            <a:ext cx="249650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Holandesa·Repouso</a:t>
            </a:r>
            <a:endParaRPr lang="en-US" sz="825" dirty="0"/>
          </a:p>
        </p:txBody>
      </p:sp>
      <p:sp>
        <p:nvSpPr>
          <p:cNvPr id="41" name="Text 33"/>
          <p:cNvSpPr/>
          <p:nvPr/>
        </p:nvSpPr>
        <p:spPr>
          <a:xfrm>
            <a:off x="14113193" y="3753326"/>
            <a:ext cx="50844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39.1°C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14625444" y="3783330"/>
            <a:ext cx="10001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35"/>
          <p:cNvSpPr/>
          <p:nvPr/>
        </p:nvSpPr>
        <p:spPr>
          <a:xfrm>
            <a:off x="14715455" y="3763328"/>
            <a:ext cx="508441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78bpm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15227707" y="3783330"/>
            <a:ext cx="10002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37"/>
          <p:cNvSpPr/>
          <p:nvPr/>
        </p:nvSpPr>
        <p:spPr>
          <a:xfrm>
            <a:off x="15317719" y="3788331"/>
            <a:ext cx="180022" cy="90011"/>
          </a:xfrm>
          <a:prstGeom prst="roundRect">
            <a:avLst>
              <a:gd name="adj" fmla="val 21164"/>
            </a:avLst>
          </a:prstGeom>
          <a:ln w="9525">
            <a:solidFill>
              <a:srgbClr val="FFFAF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38"/>
          <p:cNvSpPr/>
          <p:nvPr/>
        </p:nvSpPr>
        <p:spPr>
          <a:xfrm>
            <a:off x="15337721" y="3808333"/>
            <a:ext cx="109076" cy="50006"/>
          </a:xfrm>
          <a:prstGeom prst="roundRect">
            <a:avLst>
              <a:gd name="adj" fmla="val 19048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39"/>
          <p:cNvSpPr/>
          <p:nvPr/>
        </p:nvSpPr>
        <p:spPr>
          <a:xfrm>
            <a:off x="15497740" y="3818334"/>
            <a:ext cx="20003" cy="30004"/>
          </a:xfrm>
          <a:prstGeom prst="roundRect">
            <a:avLst>
              <a:gd name="adj" fmla="val 47618"/>
            </a:avLst>
          </a:prstGeom>
          <a:solidFill>
            <a:srgbClr val="FFFAFB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0"/>
          <p:cNvSpPr/>
          <p:nvPr/>
        </p:nvSpPr>
        <p:spPr>
          <a:xfrm>
            <a:off x="15537746" y="3778330"/>
            <a:ext cx="196371" cy="14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750" dirty="0"/>
          </a:p>
        </p:txBody>
      </p:sp>
      <p:sp>
        <p:nvSpPr>
          <p:cNvPr id="49" name="Text 41"/>
          <p:cNvSpPr/>
          <p:nvPr/>
        </p:nvSpPr>
        <p:spPr>
          <a:xfrm>
            <a:off x="15697922" y="3778330"/>
            <a:ext cx="136364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750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53510" y="3528298"/>
            <a:ext cx="180023" cy="180022"/>
          </a:xfrm>
          <a:prstGeom prst="rect">
            <a:avLst/>
          </a:prstGeom>
        </p:spPr>
      </p:pic>
      <p:sp>
        <p:nvSpPr>
          <p:cNvPr id="51" name="Shape 42"/>
          <p:cNvSpPr/>
          <p:nvPr/>
        </p:nvSpPr>
        <p:spPr>
          <a:xfrm>
            <a:off x="13383102" y="4123372"/>
            <a:ext cx="3580447" cy="850107"/>
          </a:xfrm>
          <a:prstGeom prst="roundRect">
            <a:avLst>
              <a:gd name="adj" fmla="val 15686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43"/>
          <p:cNvSpPr/>
          <p:nvPr/>
        </p:nvSpPr>
        <p:spPr>
          <a:xfrm>
            <a:off x="13513118" y="4308396"/>
            <a:ext cx="480059" cy="48006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3131" y="4418409"/>
            <a:ext cx="260033" cy="260032"/>
          </a:xfrm>
          <a:prstGeom prst="rect">
            <a:avLst/>
          </a:prstGeom>
        </p:spPr>
      </p:pic>
      <p:sp>
        <p:nvSpPr>
          <p:cNvPr id="54" name="Shape 44"/>
          <p:cNvSpPr/>
          <p:nvPr/>
        </p:nvSpPr>
        <p:spPr>
          <a:xfrm>
            <a:off x="13893165" y="4648438"/>
            <a:ext cx="80010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Shape 45"/>
          <p:cNvSpPr/>
          <p:nvPr/>
        </p:nvSpPr>
        <p:spPr>
          <a:xfrm>
            <a:off x="13780412" y="4535686"/>
            <a:ext cx="305515" cy="305514"/>
          </a:xfrm>
          <a:prstGeom prst="ellipse">
            <a:avLst/>
          </a:prstGeom>
          <a:solidFill>
            <a:srgbClr val="E87C5C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46"/>
          <p:cNvSpPr/>
          <p:nvPr/>
        </p:nvSpPr>
        <p:spPr>
          <a:xfrm>
            <a:off x="14113193" y="4253389"/>
            <a:ext cx="607985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Estrela</a:t>
            </a:r>
            <a:endParaRPr lang="en-US" sz="1200" dirty="0"/>
          </a:p>
        </p:txBody>
      </p:sp>
      <p:sp>
        <p:nvSpPr>
          <p:cNvPr id="57" name="Text 47"/>
          <p:cNvSpPr/>
          <p:nvPr/>
        </p:nvSpPr>
        <p:spPr>
          <a:xfrm>
            <a:off x="14724987" y="4323397"/>
            <a:ext cx="34045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#014</a:t>
            </a:r>
            <a:endParaRPr lang="en-US" sz="825" dirty="0"/>
          </a:p>
        </p:txBody>
      </p:sp>
      <p:sp>
        <p:nvSpPr>
          <p:cNvPr id="58" name="Text 48"/>
          <p:cNvSpPr/>
          <p:nvPr/>
        </p:nvSpPr>
        <p:spPr>
          <a:xfrm>
            <a:off x="14113193" y="4483418"/>
            <a:ext cx="249650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Jersey·Inquieta</a:t>
            </a:r>
            <a:endParaRPr lang="en-US" sz="825" dirty="0"/>
          </a:p>
        </p:txBody>
      </p:sp>
      <p:sp>
        <p:nvSpPr>
          <p:cNvPr id="59" name="Text 49"/>
          <p:cNvSpPr/>
          <p:nvPr/>
        </p:nvSpPr>
        <p:spPr>
          <a:xfrm>
            <a:off x="14113193" y="4683443"/>
            <a:ext cx="50844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7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40.2°C</a:t>
            </a:r>
            <a:endParaRPr lang="en-US" sz="900" dirty="0"/>
          </a:p>
        </p:txBody>
      </p:sp>
      <p:sp>
        <p:nvSpPr>
          <p:cNvPr id="60" name="Shape 50"/>
          <p:cNvSpPr/>
          <p:nvPr/>
        </p:nvSpPr>
        <p:spPr>
          <a:xfrm>
            <a:off x="14625444" y="4713446"/>
            <a:ext cx="10001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1"/>
          <p:cNvSpPr/>
          <p:nvPr/>
        </p:nvSpPr>
        <p:spPr>
          <a:xfrm>
            <a:off x="14715455" y="4693444"/>
            <a:ext cx="508441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96bpm</a:t>
            </a:r>
            <a:endParaRPr lang="en-US" sz="900" dirty="0"/>
          </a:p>
        </p:txBody>
      </p:sp>
      <p:sp>
        <p:nvSpPr>
          <p:cNvPr id="62" name="Shape 52"/>
          <p:cNvSpPr/>
          <p:nvPr/>
        </p:nvSpPr>
        <p:spPr>
          <a:xfrm>
            <a:off x="15227707" y="4713446"/>
            <a:ext cx="10002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53"/>
          <p:cNvSpPr/>
          <p:nvPr/>
        </p:nvSpPr>
        <p:spPr>
          <a:xfrm>
            <a:off x="15317719" y="4718447"/>
            <a:ext cx="180022" cy="90011"/>
          </a:xfrm>
          <a:prstGeom prst="roundRect">
            <a:avLst>
              <a:gd name="adj" fmla="val 21164"/>
            </a:avLst>
          </a:prstGeom>
          <a:ln w="9525">
            <a:solidFill>
              <a:srgbClr val="FFFAF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Shape 54"/>
          <p:cNvSpPr/>
          <p:nvPr/>
        </p:nvSpPr>
        <p:spPr>
          <a:xfrm>
            <a:off x="15337721" y="4738449"/>
            <a:ext cx="89542" cy="50006"/>
          </a:xfrm>
          <a:prstGeom prst="roundRect">
            <a:avLst>
              <a:gd name="adj" fmla="val 19048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Shape 55"/>
          <p:cNvSpPr/>
          <p:nvPr/>
        </p:nvSpPr>
        <p:spPr>
          <a:xfrm>
            <a:off x="15497740" y="4748451"/>
            <a:ext cx="20003" cy="30004"/>
          </a:xfrm>
          <a:prstGeom prst="roundRect">
            <a:avLst>
              <a:gd name="adj" fmla="val 47618"/>
            </a:avLst>
          </a:prstGeom>
          <a:solidFill>
            <a:srgbClr val="FFFAFB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56"/>
          <p:cNvSpPr/>
          <p:nvPr/>
        </p:nvSpPr>
        <p:spPr>
          <a:xfrm>
            <a:off x="15537746" y="4708446"/>
            <a:ext cx="196371" cy="14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750" dirty="0"/>
          </a:p>
        </p:txBody>
      </p:sp>
      <p:sp>
        <p:nvSpPr>
          <p:cNvPr id="67" name="Text 57"/>
          <p:cNvSpPr/>
          <p:nvPr/>
        </p:nvSpPr>
        <p:spPr>
          <a:xfrm>
            <a:off x="15697922" y="4708446"/>
            <a:ext cx="136364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750" dirty="0"/>
          </a:p>
        </p:txBody>
      </p:sp>
      <p:pic>
        <p:nvPicPr>
          <p:cNvPr id="6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53510" y="4458414"/>
            <a:ext cx="180023" cy="180022"/>
          </a:xfrm>
          <a:prstGeom prst="rect">
            <a:avLst/>
          </a:prstGeom>
        </p:spPr>
      </p:pic>
      <p:sp>
        <p:nvSpPr>
          <p:cNvPr id="69" name="Shape 58"/>
          <p:cNvSpPr/>
          <p:nvPr/>
        </p:nvSpPr>
        <p:spPr>
          <a:xfrm>
            <a:off x="13383102" y="5053489"/>
            <a:ext cx="3580447" cy="850107"/>
          </a:xfrm>
          <a:prstGeom prst="roundRect">
            <a:avLst>
              <a:gd name="adj" fmla="val 15686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59"/>
          <p:cNvSpPr/>
          <p:nvPr/>
        </p:nvSpPr>
        <p:spPr>
          <a:xfrm>
            <a:off x="13513118" y="5238512"/>
            <a:ext cx="480059" cy="48006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3131" y="5348526"/>
            <a:ext cx="260033" cy="260032"/>
          </a:xfrm>
          <a:prstGeom prst="rect">
            <a:avLst/>
          </a:prstGeom>
        </p:spPr>
      </p:pic>
      <p:sp>
        <p:nvSpPr>
          <p:cNvPr id="72" name="Shape 60"/>
          <p:cNvSpPr/>
          <p:nvPr/>
        </p:nvSpPr>
        <p:spPr>
          <a:xfrm>
            <a:off x="13893165" y="5578554"/>
            <a:ext cx="80010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Shape 61"/>
          <p:cNvSpPr/>
          <p:nvPr/>
        </p:nvSpPr>
        <p:spPr>
          <a:xfrm>
            <a:off x="13780412" y="5465802"/>
            <a:ext cx="305515" cy="305514"/>
          </a:xfrm>
          <a:prstGeom prst="ellipse">
            <a:avLst/>
          </a:prstGeom>
          <a:solidFill>
            <a:srgbClr val="E8C66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4" name="Text 62"/>
          <p:cNvSpPr/>
          <p:nvPr/>
        </p:nvSpPr>
        <p:spPr>
          <a:xfrm>
            <a:off x="14113193" y="5183505"/>
            <a:ext cx="741283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Mocinha</a:t>
            </a:r>
            <a:endParaRPr lang="en-US" sz="1200" dirty="0"/>
          </a:p>
        </p:txBody>
      </p:sp>
      <p:sp>
        <p:nvSpPr>
          <p:cNvPr id="75" name="Text 63"/>
          <p:cNvSpPr/>
          <p:nvPr/>
        </p:nvSpPr>
        <p:spPr>
          <a:xfrm>
            <a:off x="14858286" y="5253514"/>
            <a:ext cx="340451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#022</a:t>
            </a:r>
            <a:endParaRPr lang="en-US" sz="825" dirty="0"/>
          </a:p>
        </p:txBody>
      </p:sp>
      <p:sp>
        <p:nvSpPr>
          <p:cNvPr id="76" name="Text 64"/>
          <p:cNvSpPr/>
          <p:nvPr/>
        </p:nvSpPr>
        <p:spPr>
          <a:xfrm>
            <a:off x="14113193" y="5413534"/>
            <a:ext cx="249650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Holandesa·Pastando</a:t>
            </a:r>
            <a:endParaRPr lang="en-US" sz="825" dirty="0"/>
          </a:p>
        </p:txBody>
      </p:sp>
      <p:sp>
        <p:nvSpPr>
          <p:cNvPr id="77" name="Text 65"/>
          <p:cNvSpPr/>
          <p:nvPr/>
        </p:nvSpPr>
        <p:spPr>
          <a:xfrm>
            <a:off x="14113193" y="5613559"/>
            <a:ext cx="50844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39.4°C</a:t>
            </a:r>
            <a:endParaRPr lang="en-US" sz="900" dirty="0"/>
          </a:p>
        </p:txBody>
      </p:sp>
      <p:sp>
        <p:nvSpPr>
          <p:cNvPr id="78" name="Shape 66"/>
          <p:cNvSpPr/>
          <p:nvPr/>
        </p:nvSpPr>
        <p:spPr>
          <a:xfrm>
            <a:off x="14625444" y="5643563"/>
            <a:ext cx="10001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9" name="Text 67"/>
          <p:cNvSpPr/>
          <p:nvPr/>
        </p:nvSpPr>
        <p:spPr>
          <a:xfrm>
            <a:off x="14715455" y="5623560"/>
            <a:ext cx="50844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88bpm</a:t>
            </a:r>
            <a:endParaRPr lang="en-US" sz="900" dirty="0"/>
          </a:p>
        </p:txBody>
      </p:sp>
      <p:sp>
        <p:nvSpPr>
          <p:cNvPr id="80" name="Shape 68"/>
          <p:cNvSpPr/>
          <p:nvPr/>
        </p:nvSpPr>
        <p:spPr>
          <a:xfrm>
            <a:off x="15227707" y="5643563"/>
            <a:ext cx="10002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1" name="Shape 69"/>
          <p:cNvSpPr/>
          <p:nvPr/>
        </p:nvSpPr>
        <p:spPr>
          <a:xfrm>
            <a:off x="15317719" y="5648563"/>
            <a:ext cx="180022" cy="90011"/>
          </a:xfrm>
          <a:prstGeom prst="roundRect">
            <a:avLst>
              <a:gd name="adj" fmla="val 21164"/>
            </a:avLst>
          </a:prstGeom>
          <a:ln w="9525">
            <a:solidFill>
              <a:srgbClr val="FFFAF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2" name="Shape 70"/>
          <p:cNvSpPr/>
          <p:nvPr/>
        </p:nvSpPr>
        <p:spPr>
          <a:xfrm>
            <a:off x="15337721" y="5668566"/>
            <a:ext cx="30785" cy="50006"/>
          </a:xfrm>
          <a:prstGeom prst="roundRect">
            <a:avLst>
              <a:gd name="adj" fmla="val 30940"/>
            </a:avLst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3" name="Shape 71"/>
          <p:cNvSpPr/>
          <p:nvPr/>
        </p:nvSpPr>
        <p:spPr>
          <a:xfrm>
            <a:off x="15497740" y="5678567"/>
            <a:ext cx="20003" cy="30003"/>
          </a:xfrm>
          <a:prstGeom prst="roundRect">
            <a:avLst>
              <a:gd name="adj" fmla="val 47618"/>
            </a:avLst>
          </a:prstGeom>
          <a:solidFill>
            <a:srgbClr val="FFFAFB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4" name="Text 72"/>
          <p:cNvSpPr/>
          <p:nvPr/>
        </p:nvSpPr>
        <p:spPr>
          <a:xfrm>
            <a:off x="15537746" y="5638562"/>
            <a:ext cx="196371" cy="14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750" dirty="0"/>
          </a:p>
        </p:txBody>
      </p:sp>
      <p:sp>
        <p:nvSpPr>
          <p:cNvPr id="85" name="Text 73"/>
          <p:cNvSpPr/>
          <p:nvPr/>
        </p:nvSpPr>
        <p:spPr>
          <a:xfrm>
            <a:off x="15697922" y="5638562"/>
            <a:ext cx="136364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750" dirty="0"/>
          </a:p>
        </p:txBody>
      </p:sp>
      <p:pic>
        <p:nvPicPr>
          <p:cNvPr id="86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38096" y="5633561"/>
            <a:ext cx="120015" cy="120016"/>
          </a:xfrm>
          <a:prstGeom prst="rect">
            <a:avLst/>
          </a:prstGeom>
        </p:spPr>
      </p:pic>
      <p:pic>
        <p:nvPicPr>
          <p:cNvPr id="87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53510" y="5388530"/>
            <a:ext cx="180023" cy="180023"/>
          </a:xfrm>
          <a:prstGeom prst="rect">
            <a:avLst/>
          </a:prstGeom>
        </p:spPr>
      </p:pic>
      <p:sp>
        <p:nvSpPr>
          <p:cNvPr id="88" name="Shape 74"/>
          <p:cNvSpPr/>
          <p:nvPr/>
        </p:nvSpPr>
        <p:spPr>
          <a:xfrm>
            <a:off x="13383102" y="5983605"/>
            <a:ext cx="3580447" cy="850106"/>
          </a:xfrm>
          <a:prstGeom prst="roundRect">
            <a:avLst>
              <a:gd name="adj" fmla="val 15686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9" name="Shape 75"/>
          <p:cNvSpPr/>
          <p:nvPr/>
        </p:nvSpPr>
        <p:spPr>
          <a:xfrm>
            <a:off x="13513118" y="6168628"/>
            <a:ext cx="480059" cy="48006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0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3131" y="6278642"/>
            <a:ext cx="260033" cy="260032"/>
          </a:xfrm>
          <a:prstGeom prst="rect">
            <a:avLst/>
          </a:prstGeom>
        </p:spPr>
      </p:pic>
      <p:sp>
        <p:nvSpPr>
          <p:cNvPr id="91" name="Shape 76"/>
          <p:cNvSpPr/>
          <p:nvPr/>
        </p:nvSpPr>
        <p:spPr>
          <a:xfrm>
            <a:off x="13893165" y="6508670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2" name="Text 77"/>
          <p:cNvSpPr/>
          <p:nvPr/>
        </p:nvSpPr>
        <p:spPr>
          <a:xfrm>
            <a:off x="14113193" y="6113621"/>
            <a:ext cx="595014" cy="24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Pampa</a:t>
            </a:r>
            <a:endParaRPr lang="en-US" sz="1200" dirty="0"/>
          </a:p>
        </p:txBody>
      </p:sp>
      <p:sp>
        <p:nvSpPr>
          <p:cNvPr id="93" name="Text 78"/>
          <p:cNvSpPr/>
          <p:nvPr/>
        </p:nvSpPr>
        <p:spPr>
          <a:xfrm>
            <a:off x="14712017" y="6183630"/>
            <a:ext cx="340452" cy="15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#031</a:t>
            </a:r>
            <a:endParaRPr lang="en-US" sz="825" dirty="0"/>
          </a:p>
        </p:txBody>
      </p:sp>
      <p:sp>
        <p:nvSpPr>
          <p:cNvPr id="94" name="Text 79"/>
          <p:cNvSpPr/>
          <p:nvPr/>
        </p:nvSpPr>
        <p:spPr>
          <a:xfrm>
            <a:off x="14113193" y="6343650"/>
            <a:ext cx="249650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Girolando·Ruminando</a:t>
            </a:r>
            <a:endParaRPr lang="en-US" sz="825" dirty="0"/>
          </a:p>
        </p:txBody>
      </p:sp>
      <p:sp>
        <p:nvSpPr>
          <p:cNvPr id="95" name="Text 80"/>
          <p:cNvSpPr/>
          <p:nvPr/>
        </p:nvSpPr>
        <p:spPr>
          <a:xfrm>
            <a:off x="14113193" y="6543675"/>
            <a:ext cx="50844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38.9°C</a:t>
            </a:r>
            <a:endParaRPr lang="en-US" sz="900" dirty="0"/>
          </a:p>
        </p:txBody>
      </p:sp>
      <p:sp>
        <p:nvSpPr>
          <p:cNvPr id="96" name="Shape 81"/>
          <p:cNvSpPr/>
          <p:nvPr/>
        </p:nvSpPr>
        <p:spPr>
          <a:xfrm>
            <a:off x="14625444" y="6573679"/>
            <a:ext cx="10001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7" name="Text 82"/>
          <p:cNvSpPr/>
          <p:nvPr/>
        </p:nvSpPr>
        <p:spPr>
          <a:xfrm>
            <a:off x="14715455" y="6553677"/>
            <a:ext cx="50844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72bpm</a:t>
            </a:r>
            <a:endParaRPr lang="en-US" sz="900" dirty="0"/>
          </a:p>
        </p:txBody>
      </p:sp>
      <p:sp>
        <p:nvSpPr>
          <p:cNvPr id="98" name="Shape 83"/>
          <p:cNvSpPr/>
          <p:nvPr/>
        </p:nvSpPr>
        <p:spPr>
          <a:xfrm>
            <a:off x="15227707" y="6573679"/>
            <a:ext cx="10002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9" name="Shape 84"/>
          <p:cNvSpPr/>
          <p:nvPr/>
        </p:nvSpPr>
        <p:spPr>
          <a:xfrm>
            <a:off x="15317719" y="6578680"/>
            <a:ext cx="180022" cy="90011"/>
          </a:xfrm>
          <a:prstGeom prst="roundRect">
            <a:avLst>
              <a:gd name="adj" fmla="val 21164"/>
            </a:avLst>
          </a:prstGeom>
          <a:ln w="9525">
            <a:solidFill>
              <a:srgbClr val="FFFAF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0" name="Shape 85"/>
          <p:cNvSpPr/>
          <p:nvPr/>
        </p:nvSpPr>
        <p:spPr>
          <a:xfrm>
            <a:off x="15337721" y="6598682"/>
            <a:ext cx="127360" cy="50006"/>
          </a:xfrm>
          <a:prstGeom prst="roundRect">
            <a:avLst>
              <a:gd name="adj" fmla="val 19048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1" name="Shape 86"/>
          <p:cNvSpPr/>
          <p:nvPr/>
        </p:nvSpPr>
        <p:spPr>
          <a:xfrm>
            <a:off x="15497740" y="6608683"/>
            <a:ext cx="20003" cy="30004"/>
          </a:xfrm>
          <a:prstGeom prst="roundRect">
            <a:avLst>
              <a:gd name="adj" fmla="val 47618"/>
            </a:avLst>
          </a:prstGeom>
          <a:solidFill>
            <a:srgbClr val="FFFAFB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2" name="Text 87"/>
          <p:cNvSpPr/>
          <p:nvPr/>
        </p:nvSpPr>
        <p:spPr>
          <a:xfrm>
            <a:off x="15537746" y="6568678"/>
            <a:ext cx="196371" cy="14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750" dirty="0"/>
          </a:p>
        </p:txBody>
      </p:sp>
      <p:sp>
        <p:nvSpPr>
          <p:cNvPr id="103" name="Text 88"/>
          <p:cNvSpPr/>
          <p:nvPr/>
        </p:nvSpPr>
        <p:spPr>
          <a:xfrm>
            <a:off x="15697922" y="6568678"/>
            <a:ext cx="136364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750" dirty="0"/>
          </a:p>
        </p:txBody>
      </p:sp>
      <p:pic>
        <p:nvPicPr>
          <p:cNvPr id="104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53510" y="6318647"/>
            <a:ext cx="180023" cy="180023"/>
          </a:xfrm>
          <a:prstGeom prst="rect">
            <a:avLst/>
          </a:prstGeom>
        </p:spPr>
      </p:pic>
      <p:sp>
        <p:nvSpPr>
          <p:cNvPr id="105" name="Shape 89"/>
          <p:cNvSpPr/>
          <p:nvPr/>
        </p:nvSpPr>
        <p:spPr>
          <a:xfrm>
            <a:off x="13383102" y="6913721"/>
            <a:ext cx="3580447" cy="850106"/>
          </a:xfrm>
          <a:prstGeom prst="roundRect">
            <a:avLst>
              <a:gd name="adj" fmla="val 15686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6" name="Shape 90"/>
          <p:cNvSpPr/>
          <p:nvPr/>
        </p:nvSpPr>
        <p:spPr>
          <a:xfrm>
            <a:off x="13513118" y="7098745"/>
            <a:ext cx="480059" cy="480059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7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3131" y="7208758"/>
            <a:ext cx="260033" cy="260033"/>
          </a:xfrm>
          <a:prstGeom prst="rect">
            <a:avLst/>
          </a:prstGeom>
        </p:spPr>
      </p:pic>
      <p:sp>
        <p:nvSpPr>
          <p:cNvPr id="108" name="Shape 91"/>
          <p:cNvSpPr/>
          <p:nvPr/>
        </p:nvSpPr>
        <p:spPr>
          <a:xfrm>
            <a:off x="13893165" y="7438787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9" name="Text 92"/>
          <p:cNvSpPr/>
          <p:nvPr/>
        </p:nvSpPr>
        <p:spPr>
          <a:xfrm>
            <a:off x="14113193" y="7043738"/>
            <a:ext cx="588607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</a:t>
            </a:r>
            <a:endParaRPr lang="en-US" sz="1200" dirty="0"/>
          </a:p>
        </p:txBody>
      </p:sp>
      <p:sp>
        <p:nvSpPr>
          <p:cNvPr id="110" name="Text 93"/>
          <p:cNvSpPr/>
          <p:nvPr/>
        </p:nvSpPr>
        <p:spPr>
          <a:xfrm>
            <a:off x="14705611" y="7113746"/>
            <a:ext cx="340451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#045</a:t>
            </a:r>
            <a:endParaRPr lang="en-US" sz="825" dirty="0"/>
          </a:p>
        </p:txBody>
      </p:sp>
      <p:sp>
        <p:nvSpPr>
          <p:cNvPr id="111" name="Text 94"/>
          <p:cNvSpPr/>
          <p:nvPr/>
        </p:nvSpPr>
        <p:spPr>
          <a:xfrm>
            <a:off x="14113193" y="7273766"/>
            <a:ext cx="249650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Holandesa·Pastando</a:t>
            </a:r>
            <a:endParaRPr lang="en-US" sz="825" dirty="0"/>
          </a:p>
        </p:txBody>
      </p:sp>
      <p:sp>
        <p:nvSpPr>
          <p:cNvPr id="112" name="Text 95"/>
          <p:cNvSpPr/>
          <p:nvPr/>
        </p:nvSpPr>
        <p:spPr>
          <a:xfrm>
            <a:off x="14113193" y="7473791"/>
            <a:ext cx="364360" cy="19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39°C</a:t>
            </a:r>
            <a:endParaRPr lang="en-US" sz="900" dirty="0"/>
          </a:p>
        </p:txBody>
      </p:sp>
      <p:sp>
        <p:nvSpPr>
          <p:cNvPr id="113" name="Shape 96"/>
          <p:cNvSpPr/>
          <p:nvPr/>
        </p:nvSpPr>
        <p:spPr>
          <a:xfrm>
            <a:off x="14481364" y="7503794"/>
            <a:ext cx="10001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4" name="Text 97"/>
          <p:cNvSpPr/>
          <p:nvPr/>
        </p:nvSpPr>
        <p:spPr>
          <a:xfrm>
            <a:off x="14571375" y="7483792"/>
            <a:ext cx="508442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74bpm</a:t>
            </a:r>
            <a:endParaRPr lang="en-US" sz="900" dirty="0"/>
          </a:p>
        </p:txBody>
      </p:sp>
      <p:sp>
        <p:nvSpPr>
          <p:cNvPr id="115" name="Shape 98"/>
          <p:cNvSpPr/>
          <p:nvPr/>
        </p:nvSpPr>
        <p:spPr>
          <a:xfrm>
            <a:off x="15083626" y="7503794"/>
            <a:ext cx="10002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6" name="Shape 99"/>
          <p:cNvSpPr/>
          <p:nvPr/>
        </p:nvSpPr>
        <p:spPr>
          <a:xfrm>
            <a:off x="15173638" y="7508795"/>
            <a:ext cx="180023" cy="90012"/>
          </a:xfrm>
          <a:prstGeom prst="roundRect">
            <a:avLst>
              <a:gd name="adj" fmla="val 21164"/>
            </a:avLst>
          </a:prstGeom>
          <a:ln w="9525">
            <a:solidFill>
              <a:srgbClr val="FFFAF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7" name="Shape 100"/>
          <p:cNvSpPr/>
          <p:nvPr/>
        </p:nvSpPr>
        <p:spPr>
          <a:xfrm>
            <a:off x="15193640" y="7528797"/>
            <a:ext cx="123140" cy="50006"/>
          </a:xfrm>
          <a:prstGeom prst="roundRect">
            <a:avLst>
              <a:gd name="adj" fmla="val 19048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8" name="Shape 101"/>
          <p:cNvSpPr/>
          <p:nvPr/>
        </p:nvSpPr>
        <p:spPr>
          <a:xfrm>
            <a:off x="15353661" y="7538799"/>
            <a:ext cx="20002" cy="30004"/>
          </a:xfrm>
          <a:prstGeom prst="roundRect">
            <a:avLst>
              <a:gd name="adj" fmla="val 47620"/>
            </a:avLst>
          </a:prstGeom>
          <a:solidFill>
            <a:srgbClr val="FFFAFB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9" name="Text 102"/>
          <p:cNvSpPr/>
          <p:nvPr/>
        </p:nvSpPr>
        <p:spPr>
          <a:xfrm>
            <a:off x="15393665" y="7498795"/>
            <a:ext cx="196372" cy="148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750" dirty="0"/>
          </a:p>
        </p:txBody>
      </p:sp>
      <p:sp>
        <p:nvSpPr>
          <p:cNvPr id="120" name="Text 103"/>
          <p:cNvSpPr/>
          <p:nvPr/>
        </p:nvSpPr>
        <p:spPr>
          <a:xfrm>
            <a:off x="15553841" y="7498795"/>
            <a:ext cx="136364" cy="14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750" dirty="0"/>
          </a:p>
        </p:txBody>
      </p:sp>
      <p:pic>
        <p:nvPicPr>
          <p:cNvPr id="121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53510" y="7248763"/>
            <a:ext cx="180023" cy="180022"/>
          </a:xfrm>
          <a:prstGeom prst="rect">
            <a:avLst/>
          </a:prstGeom>
        </p:spPr>
      </p:pic>
      <p:sp>
        <p:nvSpPr>
          <p:cNvPr id="122" name="Shape 104"/>
          <p:cNvSpPr/>
          <p:nvPr/>
        </p:nvSpPr>
        <p:spPr>
          <a:xfrm>
            <a:off x="13383102" y="7843838"/>
            <a:ext cx="3580447" cy="850106"/>
          </a:xfrm>
          <a:prstGeom prst="roundRect">
            <a:avLst>
              <a:gd name="adj" fmla="val 15686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3" name="Shape 105"/>
          <p:cNvSpPr/>
          <p:nvPr/>
        </p:nvSpPr>
        <p:spPr>
          <a:xfrm>
            <a:off x="13513118" y="8028860"/>
            <a:ext cx="480059" cy="48006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4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3131" y="8138874"/>
            <a:ext cx="260033" cy="260033"/>
          </a:xfrm>
          <a:prstGeom prst="rect">
            <a:avLst/>
          </a:prstGeom>
        </p:spPr>
      </p:pic>
      <p:sp>
        <p:nvSpPr>
          <p:cNvPr id="125" name="Shape 106"/>
          <p:cNvSpPr/>
          <p:nvPr/>
        </p:nvSpPr>
        <p:spPr>
          <a:xfrm>
            <a:off x="13893165" y="8368903"/>
            <a:ext cx="80010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6" name="Shape 107"/>
          <p:cNvSpPr/>
          <p:nvPr/>
        </p:nvSpPr>
        <p:spPr>
          <a:xfrm>
            <a:off x="13780412" y="8256151"/>
            <a:ext cx="305515" cy="305514"/>
          </a:xfrm>
          <a:prstGeom prst="ellipse">
            <a:avLst/>
          </a:prstGeom>
          <a:solidFill>
            <a:srgbClr val="E8C66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7" name="Text 108"/>
          <p:cNvSpPr/>
          <p:nvPr/>
        </p:nvSpPr>
        <p:spPr>
          <a:xfrm>
            <a:off x="14113193" y="7973854"/>
            <a:ext cx="464217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Brisa</a:t>
            </a:r>
            <a:endParaRPr lang="en-US" sz="1200" dirty="0"/>
          </a:p>
        </p:txBody>
      </p:sp>
      <p:sp>
        <p:nvSpPr>
          <p:cNvPr id="128" name="Text 109"/>
          <p:cNvSpPr/>
          <p:nvPr/>
        </p:nvSpPr>
        <p:spPr>
          <a:xfrm>
            <a:off x="14581219" y="8043863"/>
            <a:ext cx="34045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#048</a:t>
            </a:r>
            <a:endParaRPr lang="en-US" sz="825" dirty="0"/>
          </a:p>
        </p:txBody>
      </p:sp>
      <p:sp>
        <p:nvSpPr>
          <p:cNvPr id="129" name="Text 110"/>
          <p:cNvSpPr/>
          <p:nvPr/>
        </p:nvSpPr>
        <p:spPr>
          <a:xfrm>
            <a:off x="14113193" y="8203882"/>
            <a:ext cx="2496502" cy="15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Jersey·Repouso</a:t>
            </a:r>
            <a:endParaRPr lang="en-US" sz="825" dirty="0"/>
          </a:p>
        </p:txBody>
      </p:sp>
      <p:sp>
        <p:nvSpPr>
          <p:cNvPr id="130" name="Text 111"/>
          <p:cNvSpPr/>
          <p:nvPr/>
        </p:nvSpPr>
        <p:spPr>
          <a:xfrm>
            <a:off x="14113193" y="8403907"/>
            <a:ext cx="50844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39.6°C</a:t>
            </a:r>
            <a:endParaRPr lang="en-US" sz="900" dirty="0"/>
          </a:p>
        </p:txBody>
      </p:sp>
      <p:sp>
        <p:nvSpPr>
          <p:cNvPr id="131" name="Shape 112"/>
          <p:cNvSpPr/>
          <p:nvPr/>
        </p:nvSpPr>
        <p:spPr>
          <a:xfrm>
            <a:off x="14625444" y="8433911"/>
            <a:ext cx="10001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2" name="Text 113"/>
          <p:cNvSpPr/>
          <p:nvPr/>
        </p:nvSpPr>
        <p:spPr>
          <a:xfrm>
            <a:off x="14715455" y="8413909"/>
            <a:ext cx="50844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84bpm</a:t>
            </a:r>
            <a:endParaRPr lang="en-US" sz="900" dirty="0"/>
          </a:p>
        </p:txBody>
      </p:sp>
      <p:sp>
        <p:nvSpPr>
          <p:cNvPr id="133" name="Shape 114"/>
          <p:cNvSpPr/>
          <p:nvPr/>
        </p:nvSpPr>
        <p:spPr>
          <a:xfrm>
            <a:off x="15227707" y="8433911"/>
            <a:ext cx="10002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4" name="Shape 115"/>
          <p:cNvSpPr/>
          <p:nvPr/>
        </p:nvSpPr>
        <p:spPr>
          <a:xfrm>
            <a:off x="15317719" y="8438912"/>
            <a:ext cx="180022" cy="90011"/>
          </a:xfrm>
          <a:prstGeom prst="roundRect">
            <a:avLst>
              <a:gd name="adj" fmla="val 21164"/>
            </a:avLst>
          </a:prstGeom>
          <a:ln w="9525">
            <a:solidFill>
              <a:srgbClr val="FFFAF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5" name="Shape 116"/>
          <p:cNvSpPr/>
          <p:nvPr/>
        </p:nvSpPr>
        <p:spPr>
          <a:xfrm>
            <a:off x="15337721" y="8458914"/>
            <a:ext cx="62976" cy="50006"/>
          </a:xfrm>
          <a:prstGeom prst="roundRect">
            <a:avLst>
              <a:gd name="adj" fmla="val 19048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6" name="Shape 117"/>
          <p:cNvSpPr/>
          <p:nvPr/>
        </p:nvSpPr>
        <p:spPr>
          <a:xfrm>
            <a:off x="15497740" y="8468916"/>
            <a:ext cx="20003" cy="30004"/>
          </a:xfrm>
          <a:prstGeom prst="roundRect">
            <a:avLst>
              <a:gd name="adj" fmla="val 47618"/>
            </a:avLst>
          </a:prstGeom>
          <a:solidFill>
            <a:srgbClr val="FFFAFB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7" name="Text 118"/>
          <p:cNvSpPr/>
          <p:nvPr/>
        </p:nvSpPr>
        <p:spPr>
          <a:xfrm>
            <a:off x="15537746" y="8428910"/>
            <a:ext cx="196371" cy="14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750" dirty="0"/>
          </a:p>
        </p:txBody>
      </p:sp>
      <p:sp>
        <p:nvSpPr>
          <p:cNvPr id="138" name="Text 119"/>
          <p:cNvSpPr/>
          <p:nvPr/>
        </p:nvSpPr>
        <p:spPr>
          <a:xfrm>
            <a:off x="15697922" y="8428910"/>
            <a:ext cx="136364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750" dirty="0"/>
          </a:p>
        </p:txBody>
      </p:sp>
      <p:pic>
        <p:nvPicPr>
          <p:cNvPr id="139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53510" y="8178879"/>
            <a:ext cx="180023" cy="180023"/>
          </a:xfrm>
          <a:prstGeom prst="rect">
            <a:avLst/>
          </a:prstGeom>
        </p:spPr>
      </p:pic>
      <p:sp>
        <p:nvSpPr>
          <p:cNvPr id="140" name="Text 120"/>
          <p:cNvSpPr/>
          <p:nvPr/>
        </p:nvSpPr>
        <p:spPr>
          <a:xfrm>
            <a:off x="13329395" y="8888254"/>
            <a:ext cx="3687860" cy="189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+ 44 vacas a carregar</a:t>
            </a:r>
            <a:endParaRPr lang="en-US" sz="900" dirty="0"/>
          </a:p>
        </p:txBody>
      </p:sp>
      <p:sp>
        <p:nvSpPr>
          <p:cNvPr id="141" name="Shape 121"/>
          <p:cNvSpPr/>
          <p:nvPr/>
        </p:nvSpPr>
        <p:spPr>
          <a:xfrm>
            <a:off x="13223081" y="8583930"/>
            <a:ext cx="3900488" cy="780098"/>
          </a:xfrm>
          <a:prstGeom prst="rect">
            <a:avLst/>
          </a:prstGeom>
          <a:solidFill>
            <a:srgbClr val="131515">
              <a:alpha val="9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2" name="Shape 122"/>
          <p:cNvSpPr/>
          <p:nvPr/>
        </p:nvSpPr>
        <p:spPr>
          <a:xfrm>
            <a:off x="13223081" y="8583930"/>
            <a:ext cx="3900488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3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77032" y="8683942"/>
            <a:ext cx="200025" cy="200025"/>
          </a:xfrm>
          <a:prstGeom prst="rect">
            <a:avLst/>
          </a:prstGeom>
        </p:spPr>
      </p:pic>
      <p:sp>
        <p:nvSpPr>
          <p:cNvPr id="144" name="Text 123"/>
          <p:cNvSpPr/>
          <p:nvPr/>
        </p:nvSpPr>
        <p:spPr>
          <a:xfrm>
            <a:off x="13542497" y="8953976"/>
            <a:ext cx="345452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750" dirty="0"/>
          </a:p>
        </p:txBody>
      </p:sp>
      <p:sp>
        <p:nvSpPr>
          <p:cNvPr id="145" name="Shape 124"/>
          <p:cNvSpPr/>
          <p:nvPr/>
        </p:nvSpPr>
        <p:spPr>
          <a:xfrm>
            <a:off x="14265243" y="8623935"/>
            <a:ext cx="320040" cy="350044"/>
          </a:xfrm>
          <a:prstGeom prst="roundRect">
            <a:avLst>
              <a:gd name="adj" fmla="val 35714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6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25250" y="8683942"/>
            <a:ext cx="200025" cy="200025"/>
          </a:xfrm>
          <a:prstGeom prst="rect">
            <a:avLst/>
          </a:prstGeom>
        </p:spPr>
      </p:pic>
      <p:sp>
        <p:nvSpPr>
          <p:cNvPr id="147" name="Text 125"/>
          <p:cNvSpPr/>
          <p:nvPr/>
        </p:nvSpPr>
        <p:spPr>
          <a:xfrm>
            <a:off x="14204922" y="8953976"/>
            <a:ext cx="516724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750" dirty="0"/>
          </a:p>
        </p:txBody>
      </p:sp>
      <p:pic>
        <p:nvPicPr>
          <p:cNvPr id="148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073313" y="8683942"/>
            <a:ext cx="200025" cy="200025"/>
          </a:xfrm>
          <a:prstGeom prst="rect">
            <a:avLst/>
          </a:prstGeom>
        </p:spPr>
      </p:pic>
      <p:sp>
        <p:nvSpPr>
          <p:cNvPr id="149" name="Text 126"/>
          <p:cNvSpPr/>
          <p:nvPr/>
        </p:nvSpPr>
        <p:spPr>
          <a:xfrm>
            <a:off x="14994552" y="8953976"/>
            <a:ext cx="4337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750" dirty="0"/>
          </a:p>
        </p:txBody>
      </p:sp>
      <p:pic>
        <p:nvPicPr>
          <p:cNvPr id="150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821375" y="8683942"/>
            <a:ext cx="200025" cy="200025"/>
          </a:xfrm>
          <a:prstGeom prst="rect">
            <a:avLst/>
          </a:prstGeom>
        </p:spPr>
      </p:pic>
      <p:sp>
        <p:nvSpPr>
          <p:cNvPr id="151" name="Text 127"/>
          <p:cNvSpPr/>
          <p:nvPr/>
        </p:nvSpPr>
        <p:spPr>
          <a:xfrm>
            <a:off x="15787464" y="8953976"/>
            <a:ext cx="3440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750" dirty="0"/>
          </a:p>
        </p:txBody>
      </p:sp>
      <p:pic>
        <p:nvPicPr>
          <p:cNvPr id="152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569437" y="8683942"/>
            <a:ext cx="200025" cy="200025"/>
          </a:xfrm>
          <a:prstGeom prst="rect">
            <a:avLst/>
          </a:prstGeom>
        </p:spPr>
      </p:pic>
      <p:sp>
        <p:nvSpPr>
          <p:cNvPr id="153" name="Text 128"/>
          <p:cNvSpPr/>
          <p:nvPr/>
        </p:nvSpPr>
        <p:spPr>
          <a:xfrm>
            <a:off x="16537558" y="8953976"/>
            <a:ext cx="340140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750" dirty="0"/>
          </a:p>
        </p:txBody>
      </p:sp>
      <p:sp>
        <p:nvSpPr>
          <p:cNvPr id="154" name="Shape 129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14801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06 · DETALHE DA VACA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529013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vaca ao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 </a:t>
            </a: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 toque.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20541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com foto, ID e brinco. Tabs Visão Geral / Temperatura / Tabela. Gráfico de linha com janelas 24h/7d/30d e marcadores de eventos (parto, vacina).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4531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de coleta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editável (RF10A — Higher · Default · Lower)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8722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do colar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bateria, sinal e modo no canto superior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7034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08:44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3112" y="1628061"/>
            <a:ext cx="200025" cy="2000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823156" y="1543050"/>
            <a:ext cx="2781348" cy="25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Estrela</a:t>
            </a:r>
            <a:endParaRPr lang="en-US" sz="1275" dirty="0"/>
          </a:p>
        </p:txBody>
      </p:sp>
      <p:sp>
        <p:nvSpPr>
          <p:cNvPr id="17" name="Text 12"/>
          <p:cNvSpPr/>
          <p:nvPr/>
        </p:nvSpPr>
        <p:spPr>
          <a:xfrm>
            <a:off x="13823156" y="1773079"/>
            <a:ext cx="2781348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#014 · BR-3401-014</a:t>
            </a:r>
            <a:endParaRPr lang="en-US" sz="9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83514" y="1628061"/>
            <a:ext cx="200025" cy="20002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3383102" y="1973104"/>
            <a:ext cx="3580447" cy="2236217"/>
          </a:xfrm>
          <a:prstGeom prst="roundRect">
            <a:avLst>
              <a:gd name="adj" fmla="val 6815"/>
            </a:avLst>
          </a:prstGeom>
          <a:solidFill>
            <a:srgbClr val="1B1D1D"/>
          </a:solidFill>
          <a:ln w="9525">
            <a:solidFill>
              <a:srgbClr val="E87C5C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4"/>
          <p:cNvSpPr/>
          <p:nvPr/>
        </p:nvSpPr>
        <p:spPr>
          <a:xfrm>
            <a:off x="13553123" y="2143125"/>
            <a:ext cx="640080" cy="64008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93140" y="2283143"/>
            <a:ext cx="360045" cy="36004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4153198" y="2703195"/>
            <a:ext cx="80010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6"/>
          <p:cNvSpPr/>
          <p:nvPr/>
        </p:nvSpPr>
        <p:spPr>
          <a:xfrm>
            <a:off x="14041630" y="2591627"/>
            <a:ext cx="303145" cy="303145"/>
          </a:xfrm>
          <a:prstGeom prst="ellipse">
            <a:avLst/>
          </a:prstGeom>
          <a:solidFill>
            <a:srgbClr val="E87C5C">
              <a:alpha val="11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17"/>
          <p:cNvSpPr/>
          <p:nvPr/>
        </p:nvSpPr>
        <p:spPr>
          <a:xfrm>
            <a:off x="14333220" y="2198132"/>
            <a:ext cx="689773" cy="170021"/>
          </a:xfrm>
          <a:prstGeom prst="roundRect">
            <a:avLst>
              <a:gd name="adj" fmla="val 50000"/>
            </a:avLst>
          </a:prstGeom>
          <a:solidFill>
            <a:srgbClr val="E87C5C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13230" y="2228136"/>
            <a:ext cx="110014" cy="11001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583252" y="2228136"/>
            <a:ext cx="435932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E87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</a:t>
            </a:r>
            <a:endParaRPr lang="en-US" sz="825" dirty="0"/>
          </a:p>
        </p:txBody>
      </p:sp>
      <p:sp>
        <p:nvSpPr>
          <p:cNvPr id="27" name="Shape 19"/>
          <p:cNvSpPr/>
          <p:nvPr/>
        </p:nvSpPr>
        <p:spPr>
          <a:xfrm>
            <a:off x="15103004" y="2198132"/>
            <a:ext cx="510220" cy="170021"/>
          </a:xfrm>
          <a:prstGeom prst="roundRect">
            <a:avLst>
              <a:gd name="adj" fmla="val 5000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0"/>
          <p:cNvSpPr/>
          <p:nvPr/>
        </p:nvSpPr>
        <p:spPr>
          <a:xfrm>
            <a:off x="15183014" y="2228136"/>
            <a:ext cx="426400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Jersey</a:t>
            </a:r>
            <a:endParaRPr lang="en-US" sz="825" dirty="0"/>
          </a:p>
        </p:txBody>
      </p:sp>
      <p:sp>
        <p:nvSpPr>
          <p:cNvPr id="29" name="Text 21"/>
          <p:cNvSpPr/>
          <p:nvPr/>
        </p:nvSpPr>
        <p:spPr>
          <a:xfrm>
            <a:off x="14333220" y="2408158"/>
            <a:ext cx="2536507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FEGA · Estábulo A · Baia 14</a:t>
            </a:r>
            <a:endParaRPr lang="en-US" sz="825" dirty="0"/>
          </a:p>
        </p:txBody>
      </p:sp>
      <p:sp>
        <p:nvSpPr>
          <p:cNvPr id="30" name="Shape 22"/>
          <p:cNvSpPr/>
          <p:nvPr/>
        </p:nvSpPr>
        <p:spPr>
          <a:xfrm>
            <a:off x="14333220" y="2623185"/>
            <a:ext cx="180022" cy="90011"/>
          </a:xfrm>
          <a:prstGeom prst="roundRect">
            <a:avLst>
              <a:gd name="adj" fmla="val 21164"/>
            </a:avLst>
          </a:prstGeom>
          <a:ln w="9525">
            <a:solidFill>
              <a:srgbClr val="FFFAF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3"/>
          <p:cNvSpPr/>
          <p:nvPr/>
        </p:nvSpPr>
        <p:spPr>
          <a:xfrm>
            <a:off x="14353223" y="2643188"/>
            <a:ext cx="89542" cy="50006"/>
          </a:xfrm>
          <a:prstGeom prst="roundRect">
            <a:avLst>
              <a:gd name="adj" fmla="val 19048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4"/>
          <p:cNvSpPr/>
          <p:nvPr/>
        </p:nvSpPr>
        <p:spPr>
          <a:xfrm>
            <a:off x="14513242" y="2653189"/>
            <a:ext cx="20003" cy="30004"/>
          </a:xfrm>
          <a:prstGeom prst="roundRect">
            <a:avLst>
              <a:gd name="adj" fmla="val 47618"/>
            </a:avLst>
          </a:prstGeom>
          <a:solidFill>
            <a:srgbClr val="FFFAFB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25"/>
          <p:cNvSpPr/>
          <p:nvPr/>
        </p:nvSpPr>
        <p:spPr>
          <a:xfrm>
            <a:off x="14553248" y="2608183"/>
            <a:ext cx="208248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825" dirty="0"/>
          </a:p>
        </p:txBody>
      </p:sp>
      <p:sp>
        <p:nvSpPr>
          <p:cNvPr id="34" name="Text 26"/>
          <p:cNvSpPr/>
          <p:nvPr/>
        </p:nvSpPr>
        <p:spPr>
          <a:xfrm>
            <a:off x="14725300" y="2608183"/>
            <a:ext cx="14230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825" dirty="0"/>
          </a:p>
        </p:txBody>
      </p:sp>
      <p:sp>
        <p:nvSpPr>
          <p:cNvPr id="35" name="Shape 27"/>
          <p:cNvSpPr/>
          <p:nvPr/>
        </p:nvSpPr>
        <p:spPr>
          <a:xfrm>
            <a:off x="14871412" y="2618184"/>
            <a:ext cx="10002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61424" y="2608183"/>
            <a:ext cx="120015" cy="12001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121443" y="2608183"/>
            <a:ext cx="39420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825" dirty="0"/>
          </a:p>
        </p:txBody>
      </p:sp>
      <p:sp>
        <p:nvSpPr>
          <p:cNvPr id="38" name="Shape 29"/>
          <p:cNvSpPr/>
          <p:nvPr/>
        </p:nvSpPr>
        <p:spPr>
          <a:xfrm>
            <a:off x="15519462" y="2618184"/>
            <a:ext cx="10002" cy="100013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0"/>
          <p:cNvSpPr/>
          <p:nvPr/>
        </p:nvSpPr>
        <p:spPr>
          <a:xfrm>
            <a:off x="15609473" y="2608183"/>
            <a:ext cx="604391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1 min</a:t>
            </a:r>
            <a:endParaRPr lang="en-US" sz="825" dirty="0"/>
          </a:p>
        </p:txBody>
      </p:sp>
      <p:sp>
        <p:nvSpPr>
          <p:cNvPr id="40" name="Shape 31"/>
          <p:cNvSpPr/>
          <p:nvPr/>
        </p:nvSpPr>
        <p:spPr>
          <a:xfrm>
            <a:off x="13553123" y="2943225"/>
            <a:ext cx="3240405" cy="1096074"/>
          </a:xfrm>
          <a:prstGeom prst="roundRect">
            <a:avLst>
              <a:gd name="adj" fmla="val 10428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2"/>
          <p:cNvSpPr/>
          <p:nvPr/>
        </p:nvSpPr>
        <p:spPr>
          <a:xfrm>
            <a:off x="13683139" y="3138249"/>
            <a:ext cx="108460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DE RISCO</a:t>
            </a:r>
            <a:endParaRPr lang="en-US" sz="825" dirty="0"/>
          </a:p>
        </p:txBody>
      </p:sp>
      <p:sp>
        <p:nvSpPr>
          <p:cNvPr id="42" name="Text 33"/>
          <p:cNvSpPr/>
          <p:nvPr/>
        </p:nvSpPr>
        <p:spPr>
          <a:xfrm>
            <a:off x="16135008" y="3073241"/>
            <a:ext cx="604703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87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r>
              <a:rPr lang="en-US" sz="900" b="1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1650" dirty="0"/>
          </a:p>
        </p:txBody>
      </p:sp>
      <p:sp>
        <p:nvSpPr>
          <p:cNvPr id="43" name="Shape 34"/>
          <p:cNvSpPr/>
          <p:nvPr/>
        </p:nvSpPr>
        <p:spPr>
          <a:xfrm>
            <a:off x="13683139" y="3433286"/>
            <a:ext cx="2980372" cy="60007"/>
          </a:xfrm>
          <a:prstGeom prst="roundRect">
            <a:avLst>
              <a:gd name="adj" fmla="val 5000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35"/>
          <p:cNvSpPr/>
          <p:nvPr/>
        </p:nvSpPr>
        <p:spPr>
          <a:xfrm>
            <a:off x="13683139" y="3433286"/>
            <a:ext cx="2980372" cy="60007"/>
          </a:xfrm>
          <a:prstGeom prst="rect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36"/>
          <p:cNvSpPr/>
          <p:nvPr/>
        </p:nvSpPr>
        <p:spPr>
          <a:xfrm>
            <a:off x="13683139" y="3573304"/>
            <a:ext cx="3069783" cy="374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consistente com</a:t>
            </a:r>
            <a:r>
              <a:rPr lang="en-US" sz="9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febre</a:t>
            </a: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en-US" sz="9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elevada </a:t>
            </a: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últimas 4h.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13383102" y="4349338"/>
            <a:ext cx="1140142" cy="940117"/>
          </a:xfrm>
          <a:prstGeom prst="roundRect">
            <a:avLst>
              <a:gd name="adj" fmla="val 12158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13118" y="4479354"/>
            <a:ext cx="160019" cy="16002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3513118" y="4739387"/>
            <a:ext cx="95630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3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40.2 </a:t>
            </a:r>
            <a:r>
              <a:rPr lang="en-US" sz="825" kern="0" spc="-33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°C</a:t>
            </a:r>
            <a:endParaRPr lang="en-US" sz="1650" dirty="0"/>
          </a:p>
        </p:txBody>
      </p:sp>
      <p:sp>
        <p:nvSpPr>
          <p:cNvPr id="49" name="Text 39"/>
          <p:cNvSpPr/>
          <p:nvPr/>
        </p:nvSpPr>
        <p:spPr>
          <a:xfrm>
            <a:off x="13513118" y="5039424"/>
            <a:ext cx="956309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Temp·+1.1</a:t>
            </a:r>
            <a:endParaRPr lang="en-US" sz="825" dirty="0"/>
          </a:p>
        </p:txBody>
      </p:sp>
      <p:sp>
        <p:nvSpPr>
          <p:cNvPr id="50" name="Shape 40"/>
          <p:cNvSpPr/>
          <p:nvPr/>
        </p:nvSpPr>
        <p:spPr>
          <a:xfrm>
            <a:off x="14603254" y="4349338"/>
            <a:ext cx="1140142" cy="940117"/>
          </a:xfrm>
          <a:prstGeom prst="roundRect">
            <a:avLst>
              <a:gd name="adj" fmla="val 12158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33270" y="4479354"/>
            <a:ext cx="160019" cy="16002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14733270" y="4739387"/>
            <a:ext cx="95630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3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</a:t>
            </a:r>
            <a:r>
              <a:rPr lang="en-US" sz="825" kern="0" spc="-33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</a:t>
            </a:r>
            <a:endParaRPr lang="en-US" sz="1650" dirty="0"/>
          </a:p>
        </p:txBody>
      </p:sp>
      <p:sp>
        <p:nvSpPr>
          <p:cNvPr id="53" name="Text 42"/>
          <p:cNvSpPr/>
          <p:nvPr/>
        </p:nvSpPr>
        <p:spPr>
          <a:xfrm>
            <a:off x="14733270" y="5039424"/>
            <a:ext cx="956309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FC·+18</a:t>
            </a:r>
            <a:endParaRPr lang="en-US" sz="825" dirty="0"/>
          </a:p>
        </p:txBody>
      </p:sp>
      <p:sp>
        <p:nvSpPr>
          <p:cNvPr id="54" name="Shape 43"/>
          <p:cNvSpPr/>
          <p:nvPr/>
        </p:nvSpPr>
        <p:spPr>
          <a:xfrm>
            <a:off x="15823406" y="4349338"/>
            <a:ext cx="1140142" cy="940117"/>
          </a:xfrm>
          <a:prstGeom prst="roundRect">
            <a:avLst>
              <a:gd name="adj" fmla="val 12158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953423" y="4479354"/>
            <a:ext cx="160019" cy="16002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15953423" y="4739387"/>
            <a:ext cx="95631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3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r>
              <a:rPr lang="en-US" sz="825" kern="0" spc="-33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min/h</a:t>
            </a:r>
            <a:endParaRPr lang="en-US" sz="1650" dirty="0"/>
          </a:p>
        </p:txBody>
      </p:sp>
      <p:sp>
        <p:nvSpPr>
          <p:cNvPr id="57" name="Text 45"/>
          <p:cNvSpPr/>
          <p:nvPr/>
        </p:nvSpPr>
        <p:spPr>
          <a:xfrm>
            <a:off x="15953423" y="5039424"/>
            <a:ext cx="95631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Atividade·−8</a:t>
            </a:r>
            <a:endParaRPr lang="en-US" sz="825" dirty="0"/>
          </a:p>
        </p:txBody>
      </p:sp>
      <p:sp>
        <p:nvSpPr>
          <p:cNvPr id="58" name="Shape 46"/>
          <p:cNvSpPr/>
          <p:nvPr/>
        </p:nvSpPr>
        <p:spPr>
          <a:xfrm>
            <a:off x="13383102" y="5429473"/>
            <a:ext cx="3580447" cy="2140267"/>
          </a:xfrm>
          <a:prstGeom prst="roundRect">
            <a:avLst>
              <a:gd name="adj" fmla="val 7121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47"/>
          <p:cNvSpPr/>
          <p:nvPr/>
        </p:nvSpPr>
        <p:spPr>
          <a:xfrm>
            <a:off x="13533120" y="5594493"/>
            <a:ext cx="929743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</a:t>
            </a:r>
            <a:endParaRPr lang="en-US" sz="1050" dirty="0"/>
          </a:p>
        </p:txBody>
      </p:sp>
      <p:sp>
        <p:nvSpPr>
          <p:cNvPr id="60" name="Text 48"/>
          <p:cNvSpPr/>
          <p:nvPr/>
        </p:nvSpPr>
        <p:spPr>
          <a:xfrm>
            <a:off x="15824753" y="5608067"/>
            <a:ext cx="208368" cy="190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</a:t>
            </a:r>
            <a:endParaRPr lang="en-US" sz="825" dirty="0"/>
          </a:p>
        </p:txBody>
      </p:sp>
      <p:sp>
        <p:nvSpPr>
          <p:cNvPr id="61" name="Shape 49"/>
          <p:cNvSpPr/>
          <p:nvPr/>
        </p:nvSpPr>
        <p:spPr>
          <a:xfrm>
            <a:off x="16093127" y="5579492"/>
            <a:ext cx="366765" cy="210027"/>
          </a:xfrm>
          <a:prstGeom prst="roundRect">
            <a:avLst>
              <a:gd name="adj" fmla="val 27211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50"/>
          <p:cNvSpPr/>
          <p:nvPr/>
        </p:nvSpPr>
        <p:spPr>
          <a:xfrm>
            <a:off x="16169327" y="5608067"/>
            <a:ext cx="290565" cy="190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</a:t>
            </a:r>
            <a:endParaRPr lang="en-US" sz="825" dirty="0"/>
          </a:p>
        </p:txBody>
      </p:sp>
      <p:sp>
        <p:nvSpPr>
          <p:cNvPr id="63" name="Text 51"/>
          <p:cNvSpPr/>
          <p:nvPr/>
        </p:nvSpPr>
        <p:spPr>
          <a:xfrm>
            <a:off x="16596100" y="5608067"/>
            <a:ext cx="217430" cy="190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7D</a:t>
            </a:r>
            <a:endParaRPr lang="en-US" sz="825" dirty="0"/>
          </a:p>
        </p:txBody>
      </p:sp>
      <p:pic>
        <p:nvPicPr>
          <p:cNvPr id="64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33120" y="5869528"/>
            <a:ext cx="3220402" cy="1400175"/>
          </a:xfrm>
          <a:prstGeom prst="rect">
            <a:avLst/>
          </a:prstGeom>
        </p:spPr>
      </p:pic>
      <p:sp>
        <p:nvSpPr>
          <p:cNvPr id="65" name="Shape 52"/>
          <p:cNvSpPr/>
          <p:nvPr/>
        </p:nvSpPr>
        <p:spPr>
          <a:xfrm>
            <a:off x="13533120" y="7357214"/>
            <a:ext cx="80010" cy="15003"/>
          </a:xfrm>
          <a:prstGeom prst="rect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53"/>
          <p:cNvSpPr/>
          <p:nvPr/>
        </p:nvSpPr>
        <p:spPr>
          <a:xfrm>
            <a:off x="13653135" y="7309708"/>
            <a:ext cx="916462" cy="14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 atenção</a:t>
            </a:r>
            <a:endParaRPr lang="en-US" sz="750" dirty="0"/>
          </a:p>
        </p:txBody>
      </p:sp>
      <p:sp>
        <p:nvSpPr>
          <p:cNvPr id="67" name="Shape 54"/>
          <p:cNvSpPr/>
          <p:nvPr/>
        </p:nvSpPr>
        <p:spPr>
          <a:xfrm>
            <a:off x="14573406" y="7357214"/>
            <a:ext cx="80010" cy="15003"/>
          </a:xfrm>
          <a:prstGeom prst="rect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Text 55"/>
          <p:cNvSpPr/>
          <p:nvPr/>
        </p:nvSpPr>
        <p:spPr>
          <a:xfrm>
            <a:off x="14693422" y="7309708"/>
            <a:ext cx="916460" cy="14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 crítico</a:t>
            </a:r>
            <a:endParaRPr lang="en-US" sz="750" dirty="0"/>
          </a:p>
        </p:txBody>
      </p:sp>
      <p:sp>
        <p:nvSpPr>
          <p:cNvPr id="69" name="Shape 56"/>
          <p:cNvSpPr/>
          <p:nvPr/>
        </p:nvSpPr>
        <p:spPr>
          <a:xfrm>
            <a:off x="13383102" y="7709758"/>
            <a:ext cx="3580447" cy="650081"/>
          </a:xfrm>
          <a:prstGeom prst="roundRect">
            <a:avLst>
              <a:gd name="adj" fmla="val 17582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57"/>
          <p:cNvSpPr/>
          <p:nvPr/>
        </p:nvSpPr>
        <p:spPr>
          <a:xfrm>
            <a:off x="13433108" y="7759765"/>
            <a:ext cx="825103" cy="550069"/>
          </a:xfrm>
          <a:prstGeom prst="roundRect">
            <a:avLst>
              <a:gd name="adj" fmla="val 13853"/>
            </a:avLst>
          </a:prstGeom>
          <a:solidFill>
            <a:srgbClr val="13151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65649" y="7859777"/>
            <a:ext cx="160020" cy="160019"/>
          </a:xfrm>
          <a:prstGeom prst="rect">
            <a:avLst/>
          </a:prstGeom>
        </p:spPr>
      </p:pic>
      <p:sp>
        <p:nvSpPr>
          <p:cNvPr id="72" name="Text 58"/>
          <p:cNvSpPr/>
          <p:nvPr/>
        </p:nvSpPr>
        <p:spPr>
          <a:xfrm>
            <a:off x="13702829" y="8059802"/>
            <a:ext cx="361705" cy="188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</a:t>
            </a:r>
            <a:endParaRPr lang="en-US" sz="825" dirty="0"/>
          </a:p>
        </p:txBody>
      </p:sp>
      <p:pic>
        <p:nvPicPr>
          <p:cNvPr id="73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650759" y="7859777"/>
            <a:ext cx="160020" cy="160019"/>
          </a:xfrm>
          <a:prstGeom prst="rect">
            <a:avLst/>
          </a:prstGeom>
        </p:spPr>
      </p:pic>
      <p:sp>
        <p:nvSpPr>
          <p:cNvPr id="74" name="Text 59"/>
          <p:cNvSpPr/>
          <p:nvPr/>
        </p:nvSpPr>
        <p:spPr>
          <a:xfrm>
            <a:off x="14662168" y="8059802"/>
            <a:ext cx="213404" cy="188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825" dirty="0"/>
          </a:p>
        </p:txBody>
      </p:sp>
      <p:pic>
        <p:nvPicPr>
          <p:cNvPr id="7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535870" y="7859777"/>
            <a:ext cx="160020" cy="160019"/>
          </a:xfrm>
          <a:prstGeom prst="rect">
            <a:avLst/>
          </a:prstGeom>
        </p:spPr>
      </p:pic>
      <p:sp>
        <p:nvSpPr>
          <p:cNvPr id="76" name="Text 60"/>
          <p:cNvSpPr/>
          <p:nvPr/>
        </p:nvSpPr>
        <p:spPr>
          <a:xfrm>
            <a:off x="15367725" y="8059802"/>
            <a:ext cx="572512" cy="188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</a:t>
            </a:r>
            <a:endParaRPr lang="en-US" sz="825" dirty="0"/>
          </a:p>
        </p:txBody>
      </p:sp>
      <p:pic>
        <p:nvPicPr>
          <p:cNvPr id="77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420981" y="7859777"/>
            <a:ext cx="160019" cy="160019"/>
          </a:xfrm>
          <a:prstGeom prst="rect">
            <a:avLst/>
          </a:prstGeom>
        </p:spPr>
      </p:pic>
      <p:sp>
        <p:nvSpPr>
          <p:cNvPr id="78" name="Text 61"/>
          <p:cNvSpPr/>
          <p:nvPr/>
        </p:nvSpPr>
        <p:spPr>
          <a:xfrm>
            <a:off x="16287371" y="8059802"/>
            <a:ext cx="503440" cy="188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endParaRPr lang="en-US" sz="825" dirty="0"/>
          </a:p>
        </p:txBody>
      </p:sp>
      <p:sp>
        <p:nvSpPr>
          <p:cNvPr id="79" name="Shape 62"/>
          <p:cNvSpPr/>
          <p:nvPr/>
        </p:nvSpPr>
        <p:spPr>
          <a:xfrm>
            <a:off x="13383102" y="8499857"/>
            <a:ext cx="3580447" cy="2170271"/>
          </a:xfrm>
          <a:prstGeom prst="roundRect">
            <a:avLst>
              <a:gd name="adj" fmla="val 7022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Text 63"/>
          <p:cNvSpPr/>
          <p:nvPr/>
        </p:nvSpPr>
        <p:spPr>
          <a:xfrm>
            <a:off x="13553123" y="8669878"/>
            <a:ext cx="3337617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recentes</a:t>
            </a:r>
            <a:endParaRPr lang="en-US" sz="1050" dirty="0"/>
          </a:p>
        </p:txBody>
      </p:sp>
      <p:sp>
        <p:nvSpPr>
          <p:cNvPr id="81" name="Shape 64"/>
          <p:cNvSpPr/>
          <p:nvPr/>
        </p:nvSpPr>
        <p:spPr>
          <a:xfrm>
            <a:off x="13553123" y="9164939"/>
            <a:ext cx="80010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2" name="Text 65"/>
          <p:cNvSpPr/>
          <p:nvPr/>
        </p:nvSpPr>
        <p:spPr>
          <a:xfrm>
            <a:off x="13733145" y="9049926"/>
            <a:ext cx="2532287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 de temperatura</a:t>
            </a:r>
            <a:endParaRPr lang="en-US" sz="975" dirty="0"/>
          </a:p>
        </p:txBody>
      </p:sp>
      <p:sp>
        <p:nvSpPr>
          <p:cNvPr id="83" name="Text 66"/>
          <p:cNvSpPr/>
          <p:nvPr/>
        </p:nvSpPr>
        <p:spPr>
          <a:xfrm>
            <a:off x="13733145" y="9239949"/>
            <a:ext cx="2532287" cy="15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1 min</a:t>
            </a:r>
            <a:endParaRPr lang="en-US" sz="825" dirty="0"/>
          </a:p>
        </p:txBody>
      </p:sp>
      <p:sp>
        <p:nvSpPr>
          <p:cNvPr id="84" name="Text 67"/>
          <p:cNvSpPr/>
          <p:nvPr/>
        </p:nvSpPr>
        <p:spPr>
          <a:xfrm>
            <a:off x="16289245" y="9134937"/>
            <a:ext cx="580482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40.2 °C</a:t>
            </a:r>
            <a:endParaRPr lang="en-US" sz="900" dirty="0"/>
          </a:p>
        </p:txBody>
      </p:sp>
      <p:sp>
        <p:nvSpPr>
          <p:cNvPr id="85" name="Shape 68"/>
          <p:cNvSpPr/>
          <p:nvPr/>
        </p:nvSpPr>
        <p:spPr>
          <a:xfrm>
            <a:off x="13553123" y="9459977"/>
            <a:ext cx="324040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6" name="Shape 69"/>
          <p:cNvSpPr/>
          <p:nvPr/>
        </p:nvSpPr>
        <p:spPr>
          <a:xfrm>
            <a:off x="13553123" y="9685005"/>
            <a:ext cx="80010" cy="80009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7" name="Text 70"/>
          <p:cNvSpPr/>
          <p:nvPr/>
        </p:nvSpPr>
        <p:spPr>
          <a:xfrm>
            <a:off x="13733145" y="9569990"/>
            <a:ext cx="2604328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acima do basal</a:t>
            </a:r>
            <a:endParaRPr lang="en-US" sz="975" dirty="0"/>
          </a:p>
        </p:txBody>
      </p:sp>
      <p:sp>
        <p:nvSpPr>
          <p:cNvPr id="88" name="Text 71"/>
          <p:cNvSpPr/>
          <p:nvPr/>
        </p:nvSpPr>
        <p:spPr>
          <a:xfrm>
            <a:off x="13733145" y="9760015"/>
            <a:ext cx="2604328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38 min</a:t>
            </a:r>
            <a:endParaRPr lang="en-US" sz="825" dirty="0"/>
          </a:p>
        </p:txBody>
      </p:sp>
      <p:sp>
        <p:nvSpPr>
          <p:cNvPr id="89" name="Text 72"/>
          <p:cNvSpPr/>
          <p:nvPr/>
        </p:nvSpPr>
        <p:spPr>
          <a:xfrm>
            <a:off x="16361286" y="9655001"/>
            <a:ext cx="50844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 bpm</a:t>
            </a:r>
            <a:endParaRPr lang="en-US" sz="900" dirty="0"/>
          </a:p>
        </p:txBody>
      </p:sp>
      <p:sp>
        <p:nvSpPr>
          <p:cNvPr id="90" name="Shape 73"/>
          <p:cNvSpPr/>
          <p:nvPr/>
        </p:nvSpPr>
        <p:spPr>
          <a:xfrm>
            <a:off x="13553123" y="9980042"/>
            <a:ext cx="324040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1" name="Shape 74"/>
          <p:cNvSpPr/>
          <p:nvPr/>
        </p:nvSpPr>
        <p:spPr>
          <a:xfrm>
            <a:off x="13553123" y="10205070"/>
            <a:ext cx="80010" cy="80010"/>
          </a:xfrm>
          <a:prstGeom prst="ellipse">
            <a:avLst/>
          </a:prstGeom>
          <a:solidFill>
            <a:srgbClr val="FFFAFB">
              <a:alpha val="4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2" name="Text 75"/>
          <p:cNvSpPr/>
          <p:nvPr/>
        </p:nvSpPr>
        <p:spPr>
          <a:xfrm>
            <a:off x="13733145" y="10090055"/>
            <a:ext cx="2532287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ordenha</a:t>
            </a:r>
            <a:endParaRPr lang="en-US" sz="975" dirty="0"/>
          </a:p>
        </p:txBody>
      </p:sp>
      <p:sp>
        <p:nvSpPr>
          <p:cNvPr id="93" name="Text 76"/>
          <p:cNvSpPr/>
          <p:nvPr/>
        </p:nvSpPr>
        <p:spPr>
          <a:xfrm>
            <a:off x="13733145" y="10280079"/>
            <a:ext cx="2532287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4h</a:t>
            </a:r>
            <a:endParaRPr lang="en-US" sz="825" dirty="0"/>
          </a:p>
        </p:txBody>
      </p:sp>
      <p:sp>
        <p:nvSpPr>
          <p:cNvPr id="94" name="Text 77"/>
          <p:cNvSpPr/>
          <p:nvPr/>
        </p:nvSpPr>
        <p:spPr>
          <a:xfrm>
            <a:off x="16289245" y="10175066"/>
            <a:ext cx="580482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Robô #2</a:t>
            </a:r>
            <a:endParaRPr lang="en-US" sz="900" dirty="0"/>
          </a:p>
        </p:txBody>
      </p:sp>
      <p:sp>
        <p:nvSpPr>
          <p:cNvPr id="95" name="Shape 78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14801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07 · HISTÓRICO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529013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crua </a:t>
            </a: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exportável.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20541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rolável com timestamp, temperatura, atividade, ruminação e status. Indicadores semânticos (vermelho/âmbar/verde) por linha.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4531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CSV / JSON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(RF19) no header da tabela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8722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header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linha mais recente em destaque Pearl Aqua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7034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08:44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3112" y="1628061"/>
            <a:ext cx="200025" cy="2000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823156" y="1543050"/>
            <a:ext cx="2336483" cy="25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1275" dirty="0"/>
          </a:p>
        </p:txBody>
      </p:sp>
      <p:sp>
        <p:nvSpPr>
          <p:cNvPr id="17" name="Text 12"/>
          <p:cNvSpPr/>
          <p:nvPr/>
        </p:nvSpPr>
        <p:spPr>
          <a:xfrm>
            <a:off x="13823156" y="1773079"/>
            <a:ext cx="2336483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Estrela · #014</a:t>
            </a:r>
            <a:endParaRPr lang="en-US" sz="9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43459" y="1628061"/>
            <a:ext cx="200025" cy="200025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83514" y="1628061"/>
            <a:ext cx="200025" cy="20002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13383102" y="1973104"/>
            <a:ext cx="3580447" cy="380048"/>
          </a:xfrm>
          <a:prstGeom prst="roundRect">
            <a:avLst>
              <a:gd name="adj" fmla="val 25063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13118" y="2093119"/>
            <a:ext cx="140017" cy="14001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3733145" y="2088118"/>
            <a:ext cx="131213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· 07:00 → 09:00</a:t>
            </a:r>
            <a:endParaRPr lang="en-US" sz="975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93515" y="2093119"/>
            <a:ext cx="140018" cy="140017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13383102" y="2473166"/>
            <a:ext cx="3580447" cy="4550569"/>
          </a:xfrm>
          <a:prstGeom prst="roundRect">
            <a:avLst>
              <a:gd name="adj" fmla="val 3724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6"/>
          <p:cNvSpPr/>
          <p:nvPr/>
        </p:nvSpPr>
        <p:spPr>
          <a:xfrm>
            <a:off x="13393102" y="2483168"/>
            <a:ext cx="3560445" cy="340043"/>
          </a:xfrm>
          <a:prstGeom prst="rect">
            <a:avLst/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17"/>
          <p:cNvSpPr/>
          <p:nvPr/>
        </p:nvSpPr>
        <p:spPr>
          <a:xfrm>
            <a:off x="13513118" y="2583180"/>
            <a:ext cx="676275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6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</a:t>
            </a:r>
            <a:endParaRPr lang="en-US" sz="750" dirty="0"/>
          </a:p>
        </p:txBody>
      </p:sp>
      <p:sp>
        <p:nvSpPr>
          <p:cNvPr id="27" name="Text 18"/>
          <p:cNvSpPr/>
          <p:nvPr/>
        </p:nvSpPr>
        <p:spPr>
          <a:xfrm>
            <a:off x="14113193" y="2583180"/>
            <a:ext cx="862860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6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</a:t>
            </a:r>
            <a:endParaRPr lang="en-US" sz="750" dirty="0"/>
          </a:p>
        </p:txBody>
      </p:sp>
      <p:sp>
        <p:nvSpPr>
          <p:cNvPr id="28" name="Text 19"/>
          <p:cNvSpPr/>
          <p:nvPr/>
        </p:nvSpPr>
        <p:spPr>
          <a:xfrm>
            <a:off x="14899853" y="2583180"/>
            <a:ext cx="863017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6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750" dirty="0"/>
          </a:p>
        </p:txBody>
      </p:sp>
      <p:sp>
        <p:nvSpPr>
          <p:cNvPr id="29" name="Text 20"/>
          <p:cNvSpPr/>
          <p:nvPr/>
        </p:nvSpPr>
        <p:spPr>
          <a:xfrm>
            <a:off x="15686670" y="2583180"/>
            <a:ext cx="862861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6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ATV</a:t>
            </a:r>
            <a:endParaRPr lang="en-US" sz="750" dirty="0"/>
          </a:p>
        </p:txBody>
      </p:sp>
      <p:sp>
        <p:nvSpPr>
          <p:cNvPr id="30" name="Text 21"/>
          <p:cNvSpPr/>
          <p:nvPr/>
        </p:nvSpPr>
        <p:spPr>
          <a:xfrm>
            <a:off x="13513118" y="2958227"/>
            <a:ext cx="676275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08:40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4113193" y="2943225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87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40.2°</a:t>
            </a:r>
            <a:endParaRPr lang="en-US" sz="975" dirty="0"/>
          </a:p>
        </p:txBody>
      </p:sp>
      <p:sp>
        <p:nvSpPr>
          <p:cNvPr id="32" name="Text 23"/>
          <p:cNvSpPr/>
          <p:nvPr/>
        </p:nvSpPr>
        <p:spPr>
          <a:xfrm>
            <a:off x="14899853" y="2953226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</a:t>
            </a:r>
            <a:endParaRPr lang="en-US" sz="975" dirty="0"/>
          </a:p>
        </p:txBody>
      </p:sp>
      <p:sp>
        <p:nvSpPr>
          <p:cNvPr id="33" name="Text 24"/>
          <p:cNvSpPr/>
          <p:nvPr/>
        </p:nvSpPr>
        <p:spPr>
          <a:xfrm>
            <a:off x="15686670" y="2953226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34" name="Shape 25"/>
          <p:cNvSpPr/>
          <p:nvPr/>
        </p:nvSpPr>
        <p:spPr>
          <a:xfrm>
            <a:off x="16753366" y="2988231"/>
            <a:ext cx="80010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26"/>
          <p:cNvSpPr/>
          <p:nvPr/>
        </p:nvSpPr>
        <p:spPr>
          <a:xfrm>
            <a:off x="13393102" y="3233261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27"/>
          <p:cNvSpPr/>
          <p:nvPr/>
        </p:nvSpPr>
        <p:spPr>
          <a:xfrm>
            <a:off x="13513118" y="3378280"/>
            <a:ext cx="676275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08:30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4113193" y="3363278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87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40.0°</a:t>
            </a:r>
            <a:endParaRPr lang="en-US" sz="975" dirty="0"/>
          </a:p>
        </p:txBody>
      </p:sp>
      <p:sp>
        <p:nvSpPr>
          <p:cNvPr id="38" name="Text 29"/>
          <p:cNvSpPr/>
          <p:nvPr/>
        </p:nvSpPr>
        <p:spPr>
          <a:xfrm>
            <a:off x="14899853" y="3373279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</a:t>
            </a:r>
            <a:endParaRPr lang="en-US" sz="975" dirty="0"/>
          </a:p>
        </p:txBody>
      </p:sp>
      <p:sp>
        <p:nvSpPr>
          <p:cNvPr id="39" name="Text 30"/>
          <p:cNvSpPr/>
          <p:nvPr/>
        </p:nvSpPr>
        <p:spPr>
          <a:xfrm>
            <a:off x="15686670" y="3373279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40" name="Shape 31"/>
          <p:cNvSpPr/>
          <p:nvPr/>
        </p:nvSpPr>
        <p:spPr>
          <a:xfrm>
            <a:off x="16753366" y="3408283"/>
            <a:ext cx="80010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2"/>
          <p:cNvSpPr/>
          <p:nvPr/>
        </p:nvSpPr>
        <p:spPr>
          <a:xfrm>
            <a:off x="13393102" y="3653314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33"/>
          <p:cNvSpPr/>
          <p:nvPr/>
        </p:nvSpPr>
        <p:spPr>
          <a:xfrm>
            <a:off x="13513118" y="3798332"/>
            <a:ext cx="676275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08:20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4113193" y="3783330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39.7°</a:t>
            </a:r>
            <a:endParaRPr lang="en-US" sz="975" dirty="0"/>
          </a:p>
        </p:txBody>
      </p:sp>
      <p:sp>
        <p:nvSpPr>
          <p:cNvPr id="44" name="Text 35"/>
          <p:cNvSpPr/>
          <p:nvPr/>
        </p:nvSpPr>
        <p:spPr>
          <a:xfrm>
            <a:off x="14899853" y="3793331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endParaRPr lang="en-US" sz="975" dirty="0"/>
          </a:p>
        </p:txBody>
      </p:sp>
      <p:sp>
        <p:nvSpPr>
          <p:cNvPr id="45" name="Text 36"/>
          <p:cNvSpPr/>
          <p:nvPr/>
        </p:nvSpPr>
        <p:spPr>
          <a:xfrm>
            <a:off x="15686670" y="3793331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46" name="Shape 37"/>
          <p:cNvSpPr/>
          <p:nvPr/>
        </p:nvSpPr>
        <p:spPr>
          <a:xfrm>
            <a:off x="16753366" y="3828336"/>
            <a:ext cx="80010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38"/>
          <p:cNvSpPr/>
          <p:nvPr/>
        </p:nvSpPr>
        <p:spPr>
          <a:xfrm>
            <a:off x="13393102" y="4073366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39"/>
          <p:cNvSpPr/>
          <p:nvPr/>
        </p:nvSpPr>
        <p:spPr>
          <a:xfrm>
            <a:off x="13513118" y="4218384"/>
            <a:ext cx="676275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08:10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14113193" y="4203382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39.6°</a:t>
            </a:r>
            <a:endParaRPr lang="en-US" sz="975" dirty="0"/>
          </a:p>
        </p:txBody>
      </p:sp>
      <p:sp>
        <p:nvSpPr>
          <p:cNvPr id="50" name="Text 41"/>
          <p:cNvSpPr/>
          <p:nvPr/>
        </p:nvSpPr>
        <p:spPr>
          <a:xfrm>
            <a:off x="14899853" y="4213384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15686670" y="4213384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52" name="Shape 43"/>
          <p:cNvSpPr/>
          <p:nvPr/>
        </p:nvSpPr>
        <p:spPr>
          <a:xfrm>
            <a:off x="16753366" y="4248388"/>
            <a:ext cx="80010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44"/>
          <p:cNvSpPr/>
          <p:nvPr/>
        </p:nvSpPr>
        <p:spPr>
          <a:xfrm>
            <a:off x="13393102" y="4493419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45"/>
          <p:cNvSpPr/>
          <p:nvPr/>
        </p:nvSpPr>
        <p:spPr>
          <a:xfrm>
            <a:off x="13513118" y="4638437"/>
            <a:ext cx="676275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08:00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14113193" y="4623435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39.4°</a:t>
            </a:r>
            <a:endParaRPr lang="en-US" sz="975" dirty="0"/>
          </a:p>
        </p:txBody>
      </p:sp>
      <p:sp>
        <p:nvSpPr>
          <p:cNvPr id="56" name="Text 47"/>
          <p:cNvSpPr/>
          <p:nvPr/>
        </p:nvSpPr>
        <p:spPr>
          <a:xfrm>
            <a:off x="14899853" y="4633436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</a:t>
            </a:r>
            <a:endParaRPr lang="en-US" sz="975" dirty="0"/>
          </a:p>
        </p:txBody>
      </p:sp>
      <p:sp>
        <p:nvSpPr>
          <p:cNvPr id="57" name="Text 48"/>
          <p:cNvSpPr/>
          <p:nvPr/>
        </p:nvSpPr>
        <p:spPr>
          <a:xfrm>
            <a:off x="15686670" y="4633436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58" name="Shape 49"/>
          <p:cNvSpPr/>
          <p:nvPr/>
        </p:nvSpPr>
        <p:spPr>
          <a:xfrm>
            <a:off x="16753366" y="4668441"/>
            <a:ext cx="80010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0"/>
          <p:cNvSpPr/>
          <p:nvPr/>
        </p:nvSpPr>
        <p:spPr>
          <a:xfrm>
            <a:off x="13393102" y="4913471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1"/>
          <p:cNvSpPr/>
          <p:nvPr/>
        </p:nvSpPr>
        <p:spPr>
          <a:xfrm>
            <a:off x="13513118" y="5058489"/>
            <a:ext cx="676275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07:50</a:t>
            </a:r>
            <a:endParaRPr lang="en-US" sz="900" dirty="0"/>
          </a:p>
        </p:txBody>
      </p:sp>
      <p:sp>
        <p:nvSpPr>
          <p:cNvPr id="61" name="Text 52"/>
          <p:cNvSpPr/>
          <p:nvPr/>
        </p:nvSpPr>
        <p:spPr>
          <a:xfrm>
            <a:off x="14113193" y="5043488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39.3°</a:t>
            </a:r>
            <a:endParaRPr lang="en-US" sz="975" dirty="0"/>
          </a:p>
        </p:txBody>
      </p:sp>
      <p:sp>
        <p:nvSpPr>
          <p:cNvPr id="62" name="Text 53"/>
          <p:cNvSpPr/>
          <p:nvPr/>
        </p:nvSpPr>
        <p:spPr>
          <a:xfrm>
            <a:off x="14899853" y="5053489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</a:t>
            </a:r>
            <a:endParaRPr lang="en-US" sz="975" dirty="0"/>
          </a:p>
        </p:txBody>
      </p:sp>
      <p:sp>
        <p:nvSpPr>
          <p:cNvPr id="63" name="Text 54"/>
          <p:cNvSpPr/>
          <p:nvPr/>
        </p:nvSpPr>
        <p:spPr>
          <a:xfrm>
            <a:off x="15686670" y="5053489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64" name="Shape 55"/>
          <p:cNvSpPr/>
          <p:nvPr/>
        </p:nvSpPr>
        <p:spPr>
          <a:xfrm>
            <a:off x="16753366" y="5088493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Shape 56"/>
          <p:cNvSpPr/>
          <p:nvPr/>
        </p:nvSpPr>
        <p:spPr>
          <a:xfrm>
            <a:off x="13393102" y="5333523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57"/>
          <p:cNvSpPr/>
          <p:nvPr/>
        </p:nvSpPr>
        <p:spPr>
          <a:xfrm>
            <a:off x="13513118" y="5478542"/>
            <a:ext cx="676275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07:40</a:t>
            </a:r>
            <a:endParaRPr lang="en-US" sz="900" dirty="0"/>
          </a:p>
        </p:txBody>
      </p:sp>
      <p:sp>
        <p:nvSpPr>
          <p:cNvPr id="67" name="Text 58"/>
          <p:cNvSpPr/>
          <p:nvPr/>
        </p:nvSpPr>
        <p:spPr>
          <a:xfrm>
            <a:off x="14113193" y="5463540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39.1°</a:t>
            </a:r>
            <a:endParaRPr lang="en-US" sz="975" dirty="0"/>
          </a:p>
        </p:txBody>
      </p:sp>
      <p:sp>
        <p:nvSpPr>
          <p:cNvPr id="68" name="Text 59"/>
          <p:cNvSpPr/>
          <p:nvPr/>
        </p:nvSpPr>
        <p:spPr>
          <a:xfrm>
            <a:off x="14899853" y="5473541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975" dirty="0"/>
          </a:p>
        </p:txBody>
      </p:sp>
      <p:sp>
        <p:nvSpPr>
          <p:cNvPr id="69" name="Text 60"/>
          <p:cNvSpPr/>
          <p:nvPr/>
        </p:nvSpPr>
        <p:spPr>
          <a:xfrm>
            <a:off x="15686670" y="5473541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70" name="Shape 61"/>
          <p:cNvSpPr/>
          <p:nvPr/>
        </p:nvSpPr>
        <p:spPr>
          <a:xfrm>
            <a:off x="16753366" y="5508545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Shape 62"/>
          <p:cNvSpPr/>
          <p:nvPr/>
        </p:nvSpPr>
        <p:spPr>
          <a:xfrm>
            <a:off x="13393102" y="5753577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Text 63"/>
          <p:cNvSpPr/>
          <p:nvPr/>
        </p:nvSpPr>
        <p:spPr>
          <a:xfrm>
            <a:off x="13513118" y="5898595"/>
            <a:ext cx="676275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07:30</a:t>
            </a:r>
            <a:endParaRPr lang="en-US" sz="900" dirty="0"/>
          </a:p>
        </p:txBody>
      </p:sp>
      <p:sp>
        <p:nvSpPr>
          <p:cNvPr id="73" name="Text 64"/>
          <p:cNvSpPr/>
          <p:nvPr/>
        </p:nvSpPr>
        <p:spPr>
          <a:xfrm>
            <a:off x="14113193" y="5883592"/>
            <a:ext cx="862860" cy="20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39.0°</a:t>
            </a:r>
            <a:endParaRPr lang="en-US" sz="975" dirty="0"/>
          </a:p>
        </p:txBody>
      </p:sp>
      <p:sp>
        <p:nvSpPr>
          <p:cNvPr id="74" name="Text 65"/>
          <p:cNvSpPr/>
          <p:nvPr/>
        </p:nvSpPr>
        <p:spPr>
          <a:xfrm>
            <a:off x="14899853" y="5893594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</a:t>
            </a:r>
            <a:endParaRPr lang="en-US" sz="975" dirty="0"/>
          </a:p>
        </p:txBody>
      </p:sp>
      <p:sp>
        <p:nvSpPr>
          <p:cNvPr id="75" name="Text 66"/>
          <p:cNvSpPr/>
          <p:nvPr/>
        </p:nvSpPr>
        <p:spPr>
          <a:xfrm>
            <a:off x="15686670" y="5893594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76" name="Shape 67"/>
          <p:cNvSpPr/>
          <p:nvPr/>
        </p:nvSpPr>
        <p:spPr>
          <a:xfrm>
            <a:off x="16753366" y="5928599"/>
            <a:ext cx="80010" cy="80009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7" name="Shape 68"/>
          <p:cNvSpPr/>
          <p:nvPr/>
        </p:nvSpPr>
        <p:spPr>
          <a:xfrm>
            <a:off x="13393102" y="6173629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8" name="Text 69"/>
          <p:cNvSpPr/>
          <p:nvPr/>
        </p:nvSpPr>
        <p:spPr>
          <a:xfrm>
            <a:off x="13513118" y="6318647"/>
            <a:ext cx="676275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07:20</a:t>
            </a:r>
            <a:endParaRPr lang="en-US" sz="900" dirty="0"/>
          </a:p>
        </p:txBody>
      </p:sp>
      <p:sp>
        <p:nvSpPr>
          <p:cNvPr id="79" name="Text 70"/>
          <p:cNvSpPr/>
          <p:nvPr/>
        </p:nvSpPr>
        <p:spPr>
          <a:xfrm>
            <a:off x="14113193" y="6303645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38.9°</a:t>
            </a:r>
            <a:endParaRPr lang="en-US" sz="975" dirty="0"/>
          </a:p>
        </p:txBody>
      </p:sp>
      <p:sp>
        <p:nvSpPr>
          <p:cNvPr id="80" name="Text 71"/>
          <p:cNvSpPr/>
          <p:nvPr/>
        </p:nvSpPr>
        <p:spPr>
          <a:xfrm>
            <a:off x="14899853" y="6313646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</a:t>
            </a:r>
            <a:endParaRPr lang="en-US" sz="975" dirty="0"/>
          </a:p>
        </p:txBody>
      </p:sp>
      <p:sp>
        <p:nvSpPr>
          <p:cNvPr id="81" name="Text 72"/>
          <p:cNvSpPr/>
          <p:nvPr/>
        </p:nvSpPr>
        <p:spPr>
          <a:xfrm>
            <a:off x="15686670" y="6313646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82" name="Shape 73"/>
          <p:cNvSpPr/>
          <p:nvPr/>
        </p:nvSpPr>
        <p:spPr>
          <a:xfrm>
            <a:off x="16753366" y="6348651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3" name="Shape 74"/>
          <p:cNvSpPr/>
          <p:nvPr/>
        </p:nvSpPr>
        <p:spPr>
          <a:xfrm>
            <a:off x="13393102" y="6593681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4" name="Text 75"/>
          <p:cNvSpPr/>
          <p:nvPr/>
        </p:nvSpPr>
        <p:spPr>
          <a:xfrm>
            <a:off x="13513118" y="6738699"/>
            <a:ext cx="676275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07:10</a:t>
            </a:r>
            <a:endParaRPr lang="en-US" sz="900" dirty="0"/>
          </a:p>
        </p:txBody>
      </p:sp>
      <p:sp>
        <p:nvSpPr>
          <p:cNvPr id="85" name="Text 76"/>
          <p:cNvSpPr/>
          <p:nvPr/>
        </p:nvSpPr>
        <p:spPr>
          <a:xfrm>
            <a:off x="14113193" y="6723698"/>
            <a:ext cx="862860" cy="20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38.9°</a:t>
            </a:r>
            <a:endParaRPr lang="en-US" sz="975" dirty="0"/>
          </a:p>
        </p:txBody>
      </p:sp>
      <p:sp>
        <p:nvSpPr>
          <p:cNvPr id="86" name="Text 77"/>
          <p:cNvSpPr/>
          <p:nvPr/>
        </p:nvSpPr>
        <p:spPr>
          <a:xfrm>
            <a:off x="14899853" y="6733698"/>
            <a:ext cx="86301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975" dirty="0"/>
          </a:p>
        </p:txBody>
      </p:sp>
      <p:sp>
        <p:nvSpPr>
          <p:cNvPr id="87" name="Text 78"/>
          <p:cNvSpPr/>
          <p:nvPr/>
        </p:nvSpPr>
        <p:spPr>
          <a:xfrm>
            <a:off x="15686670" y="6733698"/>
            <a:ext cx="86286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</a:t>
            </a:r>
            <a:r>
              <a:rPr lang="en-US" sz="67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975" dirty="0"/>
          </a:p>
        </p:txBody>
      </p:sp>
      <p:sp>
        <p:nvSpPr>
          <p:cNvPr id="88" name="Shape 79"/>
          <p:cNvSpPr/>
          <p:nvPr/>
        </p:nvSpPr>
        <p:spPr>
          <a:xfrm>
            <a:off x="16753366" y="6768703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9" name="Shape 80"/>
          <p:cNvSpPr/>
          <p:nvPr/>
        </p:nvSpPr>
        <p:spPr>
          <a:xfrm>
            <a:off x="13383102" y="7143750"/>
            <a:ext cx="3580447" cy="620077"/>
          </a:xfrm>
          <a:prstGeom prst="roundRect">
            <a:avLst>
              <a:gd name="adj" fmla="val 18433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0" name="Text 81"/>
          <p:cNvSpPr/>
          <p:nvPr/>
        </p:nvSpPr>
        <p:spPr>
          <a:xfrm>
            <a:off x="13513118" y="7383780"/>
            <a:ext cx="1750627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leituras · intervalo de 10 min</a:t>
            </a:r>
            <a:endParaRPr lang="en-US" sz="900" dirty="0"/>
          </a:p>
        </p:txBody>
      </p:sp>
      <p:sp>
        <p:nvSpPr>
          <p:cNvPr id="91" name="Shape 82"/>
          <p:cNvSpPr/>
          <p:nvPr/>
        </p:nvSpPr>
        <p:spPr>
          <a:xfrm>
            <a:off x="15543215" y="7273766"/>
            <a:ext cx="1290318" cy="360044"/>
          </a:xfrm>
          <a:prstGeom prst="roundRect">
            <a:avLst>
              <a:gd name="adj" fmla="val 31746"/>
            </a:avLst>
          </a:prstGeom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53241" y="7363777"/>
            <a:ext cx="180023" cy="180023"/>
          </a:xfrm>
          <a:prstGeom prst="rect">
            <a:avLst/>
          </a:prstGeom>
        </p:spPr>
      </p:pic>
      <p:sp>
        <p:nvSpPr>
          <p:cNvPr id="93" name="Text 83"/>
          <p:cNvSpPr/>
          <p:nvPr/>
        </p:nvSpPr>
        <p:spPr>
          <a:xfrm>
            <a:off x="15975174" y="7348776"/>
            <a:ext cx="686433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</a:t>
            </a:r>
            <a:endParaRPr lang="en-US" sz="1125" dirty="0"/>
          </a:p>
        </p:txBody>
      </p:sp>
      <p:sp>
        <p:nvSpPr>
          <p:cNvPr id="94" name="Shape 84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1434405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Parte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3255615"/>
            <a:ext cx="13735050" cy="284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e </a:t>
            </a:r>
            <a:r>
              <a:rPr lang="en-US" sz="12000" b="1" kern="0" spc="-42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geografia.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7938046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camada que reduz o tempo de resposta. Push, badge e localização do animal no piquete.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14801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08 · ALERTAS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529013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Triagem por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20541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cronológica agrupada por severidade. Cada card carrega ID do animal, métrica disparadora e ação primária (ver gráfico, marcar como visto).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4531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 · Atenção · Info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cores semânticas terrosas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8722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arquivar; long-press abre detalhe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2190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08:45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13383102" y="1543050"/>
            <a:ext cx="2781348" cy="25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1275" dirty="0"/>
          </a:p>
        </p:txBody>
      </p:sp>
      <p:sp>
        <p:nvSpPr>
          <p:cNvPr id="16" name="Text 12"/>
          <p:cNvSpPr/>
          <p:nvPr/>
        </p:nvSpPr>
        <p:spPr>
          <a:xfrm>
            <a:off x="13383102" y="1773079"/>
            <a:ext cx="2781348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não lidos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3459" y="1628061"/>
            <a:ext cx="200025" cy="200025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83514" y="1628061"/>
            <a:ext cx="200025" cy="20002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3383102" y="1973104"/>
            <a:ext cx="806819" cy="310039"/>
          </a:xfrm>
          <a:prstGeom prst="roundRect">
            <a:avLst>
              <a:gd name="adj" fmla="val 50000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4"/>
          <p:cNvSpPr/>
          <p:nvPr/>
        </p:nvSpPr>
        <p:spPr>
          <a:xfrm>
            <a:off x="13506927" y="2039779"/>
            <a:ext cx="635369" cy="214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3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· 14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14249929" y="1973104"/>
            <a:ext cx="840105" cy="310039"/>
          </a:xfrm>
          <a:prstGeom prst="roundRect">
            <a:avLst>
              <a:gd name="adj" fmla="val 5000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6"/>
          <p:cNvSpPr/>
          <p:nvPr/>
        </p:nvSpPr>
        <p:spPr>
          <a:xfrm>
            <a:off x="14373754" y="2039779"/>
            <a:ext cx="668655" cy="214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 · 1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15150040" y="1973104"/>
            <a:ext cx="780098" cy="310039"/>
          </a:xfrm>
          <a:prstGeom prst="roundRect">
            <a:avLst>
              <a:gd name="adj" fmla="val 5000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8"/>
          <p:cNvSpPr/>
          <p:nvPr/>
        </p:nvSpPr>
        <p:spPr>
          <a:xfrm>
            <a:off x="15273865" y="2039779"/>
            <a:ext cx="608648" cy="214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Avisos · 2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15990146" y="1973104"/>
            <a:ext cx="884641" cy="310039"/>
          </a:xfrm>
          <a:prstGeom prst="roundRect">
            <a:avLst>
              <a:gd name="adj" fmla="val 5000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0"/>
          <p:cNvSpPr/>
          <p:nvPr/>
        </p:nvSpPr>
        <p:spPr>
          <a:xfrm>
            <a:off x="16113971" y="2039779"/>
            <a:ext cx="713191" cy="214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Resolvidos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13383102" y="2383155"/>
            <a:ext cx="3580447" cy="888548"/>
          </a:xfrm>
          <a:prstGeom prst="roundRect">
            <a:avLst>
              <a:gd name="adj" fmla="val 15008"/>
            </a:avLst>
          </a:prstGeom>
          <a:solidFill>
            <a:srgbClr val="1B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2"/>
          <p:cNvSpPr/>
          <p:nvPr/>
        </p:nvSpPr>
        <p:spPr>
          <a:xfrm>
            <a:off x="13383102" y="3262178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3"/>
          <p:cNvSpPr/>
          <p:nvPr/>
        </p:nvSpPr>
        <p:spPr>
          <a:xfrm>
            <a:off x="13383102" y="2383155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4"/>
          <p:cNvSpPr/>
          <p:nvPr/>
        </p:nvSpPr>
        <p:spPr>
          <a:xfrm>
            <a:off x="13383102" y="2383155"/>
            <a:ext cx="28575" cy="888548"/>
          </a:xfrm>
          <a:prstGeom prst="rect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5"/>
          <p:cNvSpPr/>
          <p:nvPr/>
        </p:nvSpPr>
        <p:spPr>
          <a:xfrm>
            <a:off x="16954023" y="2383155"/>
            <a:ext cx="9525" cy="888548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6"/>
          <p:cNvSpPr/>
          <p:nvPr/>
        </p:nvSpPr>
        <p:spPr>
          <a:xfrm>
            <a:off x="13553123" y="2533174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33133" y="2613184"/>
            <a:ext cx="160019" cy="1600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3953173" y="2533174"/>
            <a:ext cx="2781348" cy="2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Febre detectada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13953173" y="2723198"/>
            <a:ext cx="2781348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Estrela #014·</a:t>
            </a: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1 min</a:t>
            </a:r>
            <a:endParaRPr lang="en-US" sz="825" dirty="0"/>
          </a:p>
        </p:txBody>
      </p:sp>
      <p:sp>
        <p:nvSpPr>
          <p:cNvPr id="36" name="Shape 29"/>
          <p:cNvSpPr/>
          <p:nvPr/>
        </p:nvSpPr>
        <p:spPr>
          <a:xfrm>
            <a:off x="16733520" y="2653189"/>
            <a:ext cx="80009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0"/>
          <p:cNvSpPr/>
          <p:nvPr/>
        </p:nvSpPr>
        <p:spPr>
          <a:xfrm>
            <a:off x="13553123" y="2933224"/>
            <a:ext cx="3358219" cy="226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40.2 °C — acima do limite crítico (39.5 °C).</a:t>
            </a:r>
            <a:endParaRPr lang="en-US" sz="975" dirty="0"/>
          </a:p>
        </p:txBody>
      </p:sp>
      <p:sp>
        <p:nvSpPr>
          <p:cNvPr id="38" name="Shape 31"/>
          <p:cNvSpPr/>
          <p:nvPr/>
        </p:nvSpPr>
        <p:spPr>
          <a:xfrm>
            <a:off x="13383102" y="3371716"/>
            <a:ext cx="3580447" cy="888549"/>
          </a:xfrm>
          <a:prstGeom prst="roundRect">
            <a:avLst>
              <a:gd name="adj" fmla="val 15008"/>
            </a:avLst>
          </a:prstGeom>
          <a:solidFill>
            <a:srgbClr val="1B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2"/>
          <p:cNvSpPr/>
          <p:nvPr/>
        </p:nvSpPr>
        <p:spPr>
          <a:xfrm>
            <a:off x="13383102" y="4250740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3"/>
          <p:cNvSpPr/>
          <p:nvPr/>
        </p:nvSpPr>
        <p:spPr>
          <a:xfrm>
            <a:off x="13383102" y="3371716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4"/>
          <p:cNvSpPr/>
          <p:nvPr/>
        </p:nvSpPr>
        <p:spPr>
          <a:xfrm>
            <a:off x="13383102" y="3371716"/>
            <a:ext cx="28575" cy="888549"/>
          </a:xfrm>
          <a:prstGeom prst="rect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35"/>
          <p:cNvSpPr/>
          <p:nvPr/>
        </p:nvSpPr>
        <p:spPr>
          <a:xfrm>
            <a:off x="16954023" y="3371716"/>
            <a:ext cx="9525" cy="888549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36"/>
          <p:cNvSpPr/>
          <p:nvPr/>
        </p:nvSpPr>
        <p:spPr>
          <a:xfrm>
            <a:off x="13553123" y="3521735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33133" y="3601745"/>
            <a:ext cx="160019" cy="16002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3953173" y="3521735"/>
            <a:ext cx="2781348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Coleira offline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13953173" y="3711759"/>
            <a:ext cx="2781348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Mocinha #022·</a:t>
            </a: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14 min</a:t>
            </a:r>
            <a:endParaRPr lang="en-US" sz="825" dirty="0"/>
          </a:p>
        </p:txBody>
      </p:sp>
      <p:sp>
        <p:nvSpPr>
          <p:cNvPr id="47" name="Shape 39"/>
          <p:cNvSpPr/>
          <p:nvPr/>
        </p:nvSpPr>
        <p:spPr>
          <a:xfrm>
            <a:off x="16733520" y="3641750"/>
            <a:ext cx="80009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0"/>
          <p:cNvSpPr/>
          <p:nvPr/>
        </p:nvSpPr>
        <p:spPr>
          <a:xfrm>
            <a:off x="13553123" y="3921785"/>
            <a:ext cx="3358219" cy="226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comunicação há 22 min · piquete de pré-parto.</a:t>
            </a:r>
            <a:endParaRPr lang="en-US" sz="975" dirty="0"/>
          </a:p>
        </p:txBody>
      </p:sp>
      <p:sp>
        <p:nvSpPr>
          <p:cNvPr id="49" name="Shape 41"/>
          <p:cNvSpPr/>
          <p:nvPr/>
        </p:nvSpPr>
        <p:spPr>
          <a:xfrm>
            <a:off x="13383102" y="4360277"/>
            <a:ext cx="3580447" cy="888548"/>
          </a:xfrm>
          <a:prstGeom prst="roundRect">
            <a:avLst>
              <a:gd name="adj" fmla="val 15008"/>
            </a:avLst>
          </a:prstGeom>
          <a:solidFill>
            <a:srgbClr val="1B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Shape 42"/>
          <p:cNvSpPr/>
          <p:nvPr/>
        </p:nvSpPr>
        <p:spPr>
          <a:xfrm>
            <a:off x="13383102" y="5239301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3"/>
          <p:cNvSpPr/>
          <p:nvPr/>
        </p:nvSpPr>
        <p:spPr>
          <a:xfrm>
            <a:off x="13383102" y="4360277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44"/>
          <p:cNvSpPr/>
          <p:nvPr/>
        </p:nvSpPr>
        <p:spPr>
          <a:xfrm>
            <a:off x="13383102" y="4360277"/>
            <a:ext cx="28575" cy="888548"/>
          </a:xfrm>
          <a:prstGeom prst="rect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45"/>
          <p:cNvSpPr/>
          <p:nvPr/>
        </p:nvSpPr>
        <p:spPr>
          <a:xfrm>
            <a:off x="16954023" y="4360277"/>
            <a:ext cx="9525" cy="888548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Shape 46"/>
          <p:cNvSpPr/>
          <p:nvPr/>
        </p:nvSpPr>
        <p:spPr>
          <a:xfrm>
            <a:off x="13553123" y="4510296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33133" y="4590306"/>
            <a:ext cx="160019" cy="160020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13953173" y="4510296"/>
            <a:ext cx="2781348" cy="2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atividade</a:t>
            </a:r>
            <a:endParaRPr lang="en-US" sz="1050" dirty="0"/>
          </a:p>
        </p:txBody>
      </p:sp>
      <p:sp>
        <p:nvSpPr>
          <p:cNvPr id="57" name="Text 48"/>
          <p:cNvSpPr/>
          <p:nvPr/>
        </p:nvSpPr>
        <p:spPr>
          <a:xfrm>
            <a:off x="13953173" y="4700319"/>
            <a:ext cx="2781348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Brisa #048·</a:t>
            </a: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36 min</a:t>
            </a:r>
            <a:endParaRPr lang="en-US" sz="825" dirty="0"/>
          </a:p>
        </p:txBody>
      </p:sp>
      <p:sp>
        <p:nvSpPr>
          <p:cNvPr id="58" name="Shape 49"/>
          <p:cNvSpPr/>
          <p:nvPr/>
        </p:nvSpPr>
        <p:spPr>
          <a:xfrm>
            <a:off x="16733520" y="4630311"/>
            <a:ext cx="80009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0"/>
          <p:cNvSpPr/>
          <p:nvPr/>
        </p:nvSpPr>
        <p:spPr>
          <a:xfrm>
            <a:off x="13553123" y="4910346"/>
            <a:ext cx="3358219" cy="226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 abaixo do basal nas últimas 6h.</a:t>
            </a:r>
            <a:endParaRPr lang="en-US" sz="975" dirty="0"/>
          </a:p>
        </p:txBody>
      </p:sp>
      <p:sp>
        <p:nvSpPr>
          <p:cNvPr id="60" name="Shape 51"/>
          <p:cNvSpPr/>
          <p:nvPr/>
        </p:nvSpPr>
        <p:spPr>
          <a:xfrm>
            <a:off x="13383102" y="5348838"/>
            <a:ext cx="3580447" cy="888549"/>
          </a:xfrm>
          <a:prstGeom prst="roundRect">
            <a:avLst>
              <a:gd name="adj" fmla="val 15008"/>
            </a:avLst>
          </a:prstGeom>
          <a:solidFill>
            <a:srgbClr val="1B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Shape 52"/>
          <p:cNvSpPr/>
          <p:nvPr/>
        </p:nvSpPr>
        <p:spPr>
          <a:xfrm>
            <a:off x="13383102" y="6227862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Shape 53"/>
          <p:cNvSpPr/>
          <p:nvPr/>
        </p:nvSpPr>
        <p:spPr>
          <a:xfrm>
            <a:off x="13383102" y="5348838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54"/>
          <p:cNvSpPr/>
          <p:nvPr/>
        </p:nvSpPr>
        <p:spPr>
          <a:xfrm>
            <a:off x="13383102" y="5348838"/>
            <a:ext cx="28575" cy="888549"/>
          </a:xfrm>
          <a:prstGeom prst="rect">
            <a:avLst/>
          </a:prstGeom>
          <a:solidFill>
            <a:srgbClr val="6BB4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Shape 55"/>
          <p:cNvSpPr/>
          <p:nvPr/>
        </p:nvSpPr>
        <p:spPr>
          <a:xfrm>
            <a:off x="16954023" y="5348838"/>
            <a:ext cx="9525" cy="888549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Shape 56"/>
          <p:cNvSpPr/>
          <p:nvPr/>
        </p:nvSpPr>
        <p:spPr>
          <a:xfrm>
            <a:off x="13553123" y="5498857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33133" y="5578866"/>
            <a:ext cx="160019" cy="160020"/>
          </a:xfrm>
          <a:prstGeom prst="rect">
            <a:avLst/>
          </a:prstGeom>
        </p:spPr>
      </p:pic>
      <p:sp>
        <p:nvSpPr>
          <p:cNvPr id="67" name="Text 57"/>
          <p:cNvSpPr/>
          <p:nvPr/>
        </p:nvSpPr>
        <p:spPr>
          <a:xfrm>
            <a:off x="13953173" y="5498857"/>
            <a:ext cx="2946168" cy="2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Bateria baixa</a:t>
            </a:r>
            <a:endParaRPr lang="en-US" sz="1050" dirty="0"/>
          </a:p>
        </p:txBody>
      </p:sp>
      <p:sp>
        <p:nvSpPr>
          <p:cNvPr id="68" name="Text 58"/>
          <p:cNvSpPr/>
          <p:nvPr/>
        </p:nvSpPr>
        <p:spPr>
          <a:xfrm>
            <a:off x="13953173" y="5688881"/>
            <a:ext cx="2946168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Mocinha #022·</a:t>
            </a: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1h</a:t>
            </a:r>
            <a:endParaRPr lang="en-US" sz="825" dirty="0"/>
          </a:p>
        </p:txBody>
      </p:sp>
      <p:sp>
        <p:nvSpPr>
          <p:cNvPr id="69" name="Text 59"/>
          <p:cNvSpPr/>
          <p:nvPr/>
        </p:nvSpPr>
        <p:spPr>
          <a:xfrm>
            <a:off x="13553123" y="5898907"/>
            <a:ext cx="3358219" cy="226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Coleira em 22% — recarga recomendada.</a:t>
            </a:r>
            <a:endParaRPr lang="en-US" sz="975" dirty="0"/>
          </a:p>
        </p:txBody>
      </p:sp>
      <p:sp>
        <p:nvSpPr>
          <p:cNvPr id="70" name="Shape 60"/>
          <p:cNvSpPr/>
          <p:nvPr/>
        </p:nvSpPr>
        <p:spPr>
          <a:xfrm>
            <a:off x="13383102" y="6337399"/>
            <a:ext cx="3580447" cy="888548"/>
          </a:xfrm>
          <a:prstGeom prst="roundRect">
            <a:avLst>
              <a:gd name="adj" fmla="val 15008"/>
            </a:avLst>
          </a:prstGeom>
          <a:solidFill>
            <a:srgbClr val="1B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Shape 61"/>
          <p:cNvSpPr/>
          <p:nvPr/>
        </p:nvSpPr>
        <p:spPr>
          <a:xfrm>
            <a:off x="13383102" y="7216422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Shape 62"/>
          <p:cNvSpPr/>
          <p:nvPr/>
        </p:nvSpPr>
        <p:spPr>
          <a:xfrm>
            <a:off x="13383102" y="6337399"/>
            <a:ext cx="3580447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Shape 63"/>
          <p:cNvSpPr/>
          <p:nvPr/>
        </p:nvSpPr>
        <p:spPr>
          <a:xfrm>
            <a:off x="13383102" y="6337399"/>
            <a:ext cx="28575" cy="888548"/>
          </a:xfrm>
          <a:prstGeom prst="rect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4" name="Shape 64"/>
          <p:cNvSpPr/>
          <p:nvPr/>
        </p:nvSpPr>
        <p:spPr>
          <a:xfrm>
            <a:off x="16954023" y="6337399"/>
            <a:ext cx="9525" cy="888548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Shape 65"/>
          <p:cNvSpPr/>
          <p:nvPr/>
        </p:nvSpPr>
        <p:spPr>
          <a:xfrm>
            <a:off x="13553123" y="6487418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33133" y="6567428"/>
            <a:ext cx="160019" cy="160019"/>
          </a:xfrm>
          <a:prstGeom prst="rect">
            <a:avLst/>
          </a:prstGeom>
        </p:spPr>
      </p:pic>
      <p:sp>
        <p:nvSpPr>
          <p:cNvPr id="77" name="Text 66"/>
          <p:cNvSpPr/>
          <p:nvPr/>
        </p:nvSpPr>
        <p:spPr>
          <a:xfrm>
            <a:off x="13953173" y="6487418"/>
            <a:ext cx="2946168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normalizada</a:t>
            </a:r>
            <a:endParaRPr lang="en-US" sz="1050" dirty="0"/>
          </a:p>
        </p:txBody>
      </p:sp>
      <p:sp>
        <p:nvSpPr>
          <p:cNvPr id="78" name="Text 67"/>
          <p:cNvSpPr/>
          <p:nvPr/>
        </p:nvSpPr>
        <p:spPr>
          <a:xfrm>
            <a:off x="13953173" y="6677441"/>
            <a:ext cx="2946168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Pampa #031·</a:t>
            </a: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2h</a:t>
            </a:r>
            <a:endParaRPr lang="en-US" sz="825" dirty="0"/>
          </a:p>
        </p:txBody>
      </p:sp>
      <p:sp>
        <p:nvSpPr>
          <p:cNvPr id="79" name="Text 68"/>
          <p:cNvSpPr/>
          <p:nvPr/>
        </p:nvSpPr>
        <p:spPr>
          <a:xfrm>
            <a:off x="13553123" y="6887468"/>
            <a:ext cx="3358219" cy="226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Frequência voltou ao basal após repouso.</a:t>
            </a:r>
            <a:endParaRPr lang="en-US" sz="975" dirty="0"/>
          </a:p>
        </p:txBody>
      </p:sp>
      <p:sp>
        <p:nvSpPr>
          <p:cNvPr id="80" name="Shape 69"/>
          <p:cNvSpPr/>
          <p:nvPr/>
        </p:nvSpPr>
        <p:spPr>
          <a:xfrm>
            <a:off x="13223081" y="8583930"/>
            <a:ext cx="3900488" cy="780098"/>
          </a:xfrm>
          <a:prstGeom prst="rect">
            <a:avLst/>
          </a:prstGeom>
          <a:solidFill>
            <a:srgbClr val="131515">
              <a:alpha val="9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1" name="Shape 70"/>
          <p:cNvSpPr/>
          <p:nvPr/>
        </p:nvSpPr>
        <p:spPr>
          <a:xfrm>
            <a:off x="13223081" y="8583930"/>
            <a:ext cx="3900488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77032" y="8683942"/>
            <a:ext cx="200025" cy="200025"/>
          </a:xfrm>
          <a:prstGeom prst="rect">
            <a:avLst/>
          </a:prstGeom>
        </p:spPr>
      </p:pic>
      <p:sp>
        <p:nvSpPr>
          <p:cNvPr id="83" name="Text 71"/>
          <p:cNvSpPr/>
          <p:nvPr/>
        </p:nvSpPr>
        <p:spPr>
          <a:xfrm>
            <a:off x="13542497" y="8953976"/>
            <a:ext cx="345452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750" dirty="0"/>
          </a:p>
        </p:txBody>
      </p:sp>
      <p:pic>
        <p:nvPicPr>
          <p:cNvPr id="8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25250" y="8683942"/>
            <a:ext cx="200025" cy="200025"/>
          </a:xfrm>
          <a:prstGeom prst="rect">
            <a:avLst/>
          </a:prstGeom>
        </p:spPr>
      </p:pic>
      <p:sp>
        <p:nvSpPr>
          <p:cNvPr id="85" name="Text 72"/>
          <p:cNvSpPr/>
          <p:nvPr/>
        </p:nvSpPr>
        <p:spPr>
          <a:xfrm>
            <a:off x="14204922" y="8953976"/>
            <a:ext cx="516724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750" dirty="0"/>
          </a:p>
        </p:txBody>
      </p:sp>
      <p:sp>
        <p:nvSpPr>
          <p:cNvPr id="86" name="Shape 73"/>
          <p:cNvSpPr/>
          <p:nvPr/>
        </p:nvSpPr>
        <p:spPr>
          <a:xfrm>
            <a:off x="15013305" y="8623935"/>
            <a:ext cx="320041" cy="350044"/>
          </a:xfrm>
          <a:prstGeom prst="roundRect">
            <a:avLst>
              <a:gd name="adj" fmla="val 35714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73313" y="8683942"/>
            <a:ext cx="200025" cy="200025"/>
          </a:xfrm>
          <a:prstGeom prst="rect">
            <a:avLst/>
          </a:prstGeom>
        </p:spPr>
      </p:pic>
      <p:sp>
        <p:nvSpPr>
          <p:cNvPr id="88" name="Text 74"/>
          <p:cNvSpPr/>
          <p:nvPr/>
        </p:nvSpPr>
        <p:spPr>
          <a:xfrm>
            <a:off x="14994552" y="8953976"/>
            <a:ext cx="4337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750" dirty="0"/>
          </a:p>
        </p:txBody>
      </p:sp>
      <p:pic>
        <p:nvPicPr>
          <p:cNvPr id="89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821375" y="8683942"/>
            <a:ext cx="200025" cy="200025"/>
          </a:xfrm>
          <a:prstGeom prst="rect">
            <a:avLst/>
          </a:prstGeom>
        </p:spPr>
      </p:pic>
      <p:sp>
        <p:nvSpPr>
          <p:cNvPr id="90" name="Text 75"/>
          <p:cNvSpPr/>
          <p:nvPr/>
        </p:nvSpPr>
        <p:spPr>
          <a:xfrm>
            <a:off x="15787464" y="8953976"/>
            <a:ext cx="3440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750" dirty="0"/>
          </a:p>
        </p:txBody>
      </p:sp>
      <p:pic>
        <p:nvPicPr>
          <p:cNvPr id="91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569437" y="8683942"/>
            <a:ext cx="200025" cy="200025"/>
          </a:xfrm>
          <a:prstGeom prst="rect">
            <a:avLst/>
          </a:prstGeom>
        </p:spPr>
      </p:pic>
      <p:sp>
        <p:nvSpPr>
          <p:cNvPr id="92" name="Text 76"/>
          <p:cNvSpPr/>
          <p:nvPr/>
        </p:nvSpPr>
        <p:spPr>
          <a:xfrm>
            <a:off x="16537558" y="8953976"/>
            <a:ext cx="340140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750" dirty="0"/>
          </a:p>
        </p:txBody>
      </p:sp>
      <p:sp>
        <p:nvSpPr>
          <p:cNvPr id="93" name="Shape 77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14801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09 · MAPA DA FAZENDA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3529013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está cada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20541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da fazenda com pins por animal, agrupados por piquete. Heatmap opcional para densidade. Bottom sheet com lista do que está visível.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64531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Pins coloridos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score de risco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9700" y="6872288"/>
            <a:ext cx="7189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Geofence </a:t>
            </a:r>
            <a:r>
              <a:rPr lang="en-US" sz="1350" dirty="0">
                <a:solidFill>
                  <a:srgbClr val="D6D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piquete, com alerta de saída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503116" y="1168003"/>
            <a:ext cx="492190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08:45</a:t>
            </a:r>
            <a:endParaRPr lang="en-US" sz="11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23081" y="1463040"/>
            <a:ext cx="3900488" cy="790098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4175075" y="4325273"/>
            <a:ext cx="280035" cy="280035"/>
          </a:xfrm>
          <a:prstGeom prst="ellipse">
            <a:avLst/>
          </a:prstGeom>
          <a:solidFill>
            <a:srgbClr val="7DE2D1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14215080" y="4365278"/>
            <a:ext cx="200025" cy="200025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/>
          <p:nvPr/>
        </p:nvSpPr>
        <p:spPr>
          <a:xfrm>
            <a:off x="14215080" y="4365278"/>
            <a:ext cx="2762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675" dirty="0"/>
          </a:p>
        </p:txBody>
      </p:sp>
      <p:sp>
        <p:nvSpPr>
          <p:cNvPr id="19" name="Shape 14"/>
          <p:cNvSpPr/>
          <p:nvPr/>
        </p:nvSpPr>
        <p:spPr>
          <a:xfrm>
            <a:off x="14799215" y="3693319"/>
            <a:ext cx="280035" cy="280035"/>
          </a:xfrm>
          <a:prstGeom prst="ellipse">
            <a:avLst/>
          </a:prstGeom>
          <a:solidFill>
            <a:srgbClr val="7DE2D1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14839221" y="3733324"/>
            <a:ext cx="200025" cy="200025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6"/>
          <p:cNvSpPr/>
          <p:nvPr/>
        </p:nvSpPr>
        <p:spPr>
          <a:xfrm>
            <a:off x="14839221" y="3733324"/>
            <a:ext cx="2762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675" dirty="0"/>
          </a:p>
        </p:txBody>
      </p:sp>
      <p:sp>
        <p:nvSpPr>
          <p:cNvPr id="22" name="Shape 17"/>
          <p:cNvSpPr/>
          <p:nvPr/>
        </p:nvSpPr>
        <p:spPr>
          <a:xfrm>
            <a:off x="14291513" y="5235871"/>
            <a:ext cx="671302" cy="671302"/>
          </a:xfrm>
          <a:prstGeom prst="ellipse">
            <a:avLst/>
          </a:prstGeom>
          <a:solidFill>
            <a:srgbClr val="E8C66B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8"/>
          <p:cNvSpPr/>
          <p:nvPr/>
        </p:nvSpPr>
        <p:spPr>
          <a:xfrm>
            <a:off x="14527150" y="5471510"/>
            <a:ext cx="200025" cy="200025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19"/>
          <p:cNvSpPr/>
          <p:nvPr/>
        </p:nvSpPr>
        <p:spPr>
          <a:xfrm>
            <a:off x="14527150" y="5471510"/>
            <a:ext cx="2762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675" dirty="0"/>
          </a:p>
        </p:txBody>
      </p:sp>
      <p:sp>
        <p:nvSpPr>
          <p:cNvPr id="25" name="Shape 20"/>
          <p:cNvSpPr/>
          <p:nvPr/>
        </p:nvSpPr>
        <p:spPr>
          <a:xfrm>
            <a:off x="15423356" y="4799395"/>
            <a:ext cx="280035" cy="280035"/>
          </a:xfrm>
          <a:prstGeom prst="ellipse">
            <a:avLst/>
          </a:prstGeom>
          <a:solidFill>
            <a:srgbClr val="7DE2D1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1"/>
          <p:cNvSpPr/>
          <p:nvPr/>
        </p:nvSpPr>
        <p:spPr>
          <a:xfrm>
            <a:off x="15463361" y="4839399"/>
            <a:ext cx="200025" cy="200025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2"/>
          <p:cNvSpPr/>
          <p:nvPr/>
        </p:nvSpPr>
        <p:spPr>
          <a:xfrm>
            <a:off x="15463361" y="4839399"/>
            <a:ext cx="2762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+12</a:t>
            </a:r>
            <a:endParaRPr lang="en-US" sz="675" dirty="0"/>
          </a:p>
        </p:txBody>
      </p:sp>
      <p:sp>
        <p:nvSpPr>
          <p:cNvPr id="28" name="Shape 23"/>
          <p:cNvSpPr/>
          <p:nvPr/>
        </p:nvSpPr>
        <p:spPr>
          <a:xfrm>
            <a:off x="15539636" y="6183959"/>
            <a:ext cx="671302" cy="671302"/>
          </a:xfrm>
          <a:prstGeom prst="ellipse">
            <a:avLst/>
          </a:prstGeom>
          <a:solidFill>
            <a:srgbClr val="E87C5C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4"/>
          <p:cNvSpPr/>
          <p:nvPr/>
        </p:nvSpPr>
        <p:spPr>
          <a:xfrm>
            <a:off x="15775275" y="6419597"/>
            <a:ext cx="200025" cy="200025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5"/>
          <p:cNvSpPr/>
          <p:nvPr/>
        </p:nvSpPr>
        <p:spPr>
          <a:xfrm>
            <a:off x="15775275" y="6419597"/>
            <a:ext cx="2762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675" dirty="0"/>
          </a:p>
        </p:txBody>
      </p:sp>
      <p:sp>
        <p:nvSpPr>
          <p:cNvPr id="31" name="Shape 26"/>
          <p:cNvSpPr/>
          <p:nvPr/>
        </p:nvSpPr>
        <p:spPr>
          <a:xfrm>
            <a:off x="14837675" y="6816069"/>
            <a:ext cx="671302" cy="671302"/>
          </a:xfrm>
          <a:prstGeom prst="ellipse">
            <a:avLst/>
          </a:prstGeom>
          <a:solidFill>
            <a:srgbClr val="E8C66B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7"/>
          <p:cNvSpPr/>
          <p:nvPr/>
        </p:nvSpPr>
        <p:spPr>
          <a:xfrm>
            <a:off x="15073313" y="7051707"/>
            <a:ext cx="200025" cy="200025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28"/>
          <p:cNvSpPr/>
          <p:nvPr/>
        </p:nvSpPr>
        <p:spPr>
          <a:xfrm>
            <a:off x="15073313" y="7051707"/>
            <a:ext cx="2762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675" dirty="0"/>
          </a:p>
        </p:txBody>
      </p:sp>
      <p:sp>
        <p:nvSpPr>
          <p:cNvPr id="34" name="Shape 29"/>
          <p:cNvSpPr/>
          <p:nvPr/>
        </p:nvSpPr>
        <p:spPr>
          <a:xfrm>
            <a:off x="16203454" y="3693319"/>
            <a:ext cx="280035" cy="280035"/>
          </a:xfrm>
          <a:prstGeom prst="ellipse">
            <a:avLst/>
          </a:prstGeom>
          <a:solidFill>
            <a:srgbClr val="7DE2D1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0"/>
          <p:cNvSpPr/>
          <p:nvPr/>
        </p:nvSpPr>
        <p:spPr>
          <a:xfrm>
            <a:off x="16243459" y="3733324"/>
            <a:ext cx="200025" cy="200025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1"/>
          <p:cNvSpPr/>
          <p:nvPr/>
        </p:nvSpPr>
        <p:spPr>
          <a:xfrm>
            <a:off x="16243459" y="3733324"/>
            <a:ext cx="2762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+18</a:t>
            </a:r>
            <a:endParaRPr lang="en-US" sz="675" dirty="0"/>
          </a:p>
        </p:txBody>
      </p:sp>
      <p:sp>
        <p:nvSpPr>
          <p:cNvPr id="37" name="Shape 32"/>
          <p:cNvSpPr/>
          <p:nvPr/>
        </p:nvSpPr>
        <p:spPr>
          <a:xfrm>
            <a:off x="13941140" y="7011702"/>
            <a:ext cx="280035" cy="280035"/>
          </a:xfrm>
          <a:prstGeom prst="ellipse">
            <a:avLst/>
          </a:prstGeom>
          <a:solidFill>
            <a:srgbClr val="7DE2D1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3"/>
          <p:cNvSpPr/>
          <p:nvPr/>
        </p:nvSpPr>
        <p:spPr>
          <a:xfrm>
            <a:off x="13981145" y="7051707"/>
            <a:ext cx="200025" cy="200025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4"/>
          <p:cNvSpPr/>
          <p:nvPr/>
        </p:nvSpPr>
        <p:spPr>
          <a:xfrm>
            <a:off x="13981145" y="7051707"/>
            <a:ext cx="2762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1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</a:t>
            </a:r>
            <a:endParaRPr lang="en-US" sz="675" dirty="0"/>
          </a:p>
        </p:txBody>
      </p:sp>
      <p:sp>
        <p:nvSpPr>
          <p:cNvPr id="40" name="Shape 35"/>
          <p:cNvSpPr/>
          <p:nvPr/>
        </p:nvSpPr>
        <p:spPr>
          <a:xfrm>
            <a:off x="13383102" y="1543050"/>
            <a:ext cx="3060382" cy="440055"/>
          </a:xfrm>
          <a:prstGeom prst="roundRect">
            <a:avLst>
              <a:gd name="adj" fmla="val 25974"/>
            </a:avLst>
          </a:prstGeom>
          <a:solidFill>
            <a:srgbClr val="131515">
              <a:alpha val="85000"/>
            </a:srgbClr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33120" y="1683068"/>
            <a:ext cx="160019" cy="16002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3793152" y="1683068"/>
            <a:ext cx="25765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piquete ou vaca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16523494" y="1543050"/>
            <a:ext cx="440055" cy="440055"/>
          </a:xfrm>
          <a:prstGeom prst="roundRect">
            <a:avLst>
              <a:gd name="adj" fmla="val 25974"/>
            </a:avLst>
          </a:prstGeom>
          <a:solidFill>
            <a:srgbClr val="131515">
              <a:alpha val="85000"/>
            </a:srgbClr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53510" y="1673066"/>
            <a:ext cx="180023" cy="180022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13383102" y="7553801"/>
            <a:ext cx="3580447" cy="850106"/>
          </a:xfrm>
          <a:prstGeom prst="roundRect">
            <a:avLst>
              <a:gd name="adj" fmla="val 17927"/>
            </a:avLst>
          </a:prstGeom>
          <a:solidFill>
            <a:srgbClr val="131515">
              <a:alpha val="92000"/>
            </a:srgbClr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39"/>
          <p:cNvSpPr/>
          <p:nvPr/>
        </p:nvSpPr>
        <p:spPr>
          <a:xfrm>
            <a:off x="13533120" y="7758826"/>
            <a:ext cx="440055" cy="440056"/>
          </a:xfrm>
          <a:prstGeom prst="roundRect">
            <a:avLst>
              <a:gd name="adj" fmla="val 21645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3131" y="7848838"/>
            <a:ext cx="260033" cy="260032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13913168" y="8098870"/>
            <a:ext cx="80009" cy="80009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Shape 41"/>
          <p:cNvSpPr/>
          <p:nvPr/>
        </p:nvSpPr>
        <p:spPr>
          <a:xfrm>
            <a:off x="13834528" y="8020229"/>
            <a:ext cx="237290" cy="237290"/>
          </a:xfrm>
          <a:prstGeom prst="ellipse">
            <a:avLst/>
          </a:prstGeom>
          <a:solidFill>
            <a:srgbClr val="E87C5C">
              <a:alpha val="23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2"/>
          <p:cNvSpPr/>
          <p:nvPr/>
        </p:nvSpPr>
        <p:spPr>
          <a:xfrm>
            <a:off x="14093190" y="7703819"/>
            <a:ext cx="607985" cy="24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Estrela</a:t>
            </a:r>
            <a:endParaRPr lang="en-US" sz="1200" dirty="0"/>
          </a:p>
        </p:txBody>
      </p:sp>
      <p:sp>
        <p:nvSpPr>
          <p:cNvPr id="51" name="Text 43"/>
          <p:cNvSpPr/>
          <p:nvPr/>
        </p:nvSpPr>
        <p:spPr>
          <a:xfrm>
            <a:off x="14684983" y="7748826"/>
            <a:ext cx="340296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#014</a:t>
            </a:r>
            <a:endParaRPr lang="en-US" sz="825" dirty="0"/>
          </a:p>
        </p:txBody>
      </p:sp>
      <p:sp>
        <p:nvSpPr>
          <p:cNvPr id="52" name="Shape 44"/>
          <p:cNvSpPr/>
          <p:nvPr/>
        </p:nvSpPr>
        <p:spPr>
          <a:xfrm>
            <a:off x="15009086" y="7723823"/>
            <a:ext cx="519752" cy="170021"/>
          </a:xfrm>
          <a:prstGeom prst="roundRect">
            <a:avLst>
              <a:gd name="adj" fmla="val 50000"/>
            </a:avLst>
          </a:prstGeom>
          <a:solidFill>
            <a:srgbClr val="E87C5C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45"/>
          <p:cNvSpPr/>
          <p:nvPr/>
        </p:nvSpPr>
        <p:spPr>
          <a:xfrm>
            <a:off x="15089095" y="7753826"/>
            <a:ext cx="435933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E87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</a:t>
            </a:r>
            <a:endParaRPr lang="en-US" sz="825" dirty="0"/>
          </a:p>
        </p:txBody>
      </p:sp>
      <p:sp>
        <p:nvSpPr>
          <p:cNvPr id="54" name="Text 46"/>
          <p:cNvSpPr/>
          <p:nvPr/>
        </p:nvSpPr>
        <p:spPr>
          <a:xfrm>
            <a:off x="14093190" y="7933848"/>
            <a:ext cx="249650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−25.4509°, −49.1310°</a:t>
            </a:r>
            <a:endParaRPr lang="en-US" sz="825" dirty="0"/>
          </a:p>
        </p:txBody>
      </p:sp>
      <p:sp>
        <p:nvSpPr>
          <p:cNvPr id="55" name="Text 47"/>
          <p:cNvSpPr/>
          <p:nvPr/>
        </p:nvSpPr>
        <p:spPr>
          <a:xfrm>
            <a:off x="14093190" y="8113871"/>
            <a:ext cx="508442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87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40.2°C</a:t>
            </a:r>
            <a:endParaRPr lang="en-US" sz="900" dirty="0"/>
          </a:p>
        </p:txBody>
      </p:sp>
      <p:sp>
        <p:nvSpPr>
          <p:cNvPr id="56" name="Text 48"/>
          <p:cNvSpPr/>
          <p:nvPr/>
        </p:nvSpPr>
        <p:spPr>
          <a:xfrm>
            <a:off x="14625444" y="8113871"/>
            <a:ext cx="508441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 bpm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15157698" y="8138874"/>
            <a:ext cx="180023" cy="90011"/>
          </a:xfrm>
          <a:prstGeom prst="roundRect">
            <a:avLst>
              <a:gd name="adj" fmla="val 21164"/>
            </a:avLst>
          </a:prstGeom>
          <a:ln w="9525">
            <a:solidFill>
              <a:srgbClr val="FFFAF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0"/>
          <p:cNvSpPr/>
          <p:nvPr/>
        </p:nvSpPr>
        <p:spPr>
          <a:xfrm>
            <a:off x="15177700" y="8158876"/>
            <a:ext cx="89542" cy="50006"/>
          </a:xfrm>
          <a:prstGeom prst="roundRect">
            <a:avLst>
              <a:gd name="adj" fmla="val 19048"/>
            </a:avLst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1"/>
          <p:cNvSpPr/>
          <p:nvPr/>
        </p:nvSpPr>
        <p:spPr>
          <a:xfrm>
            <a:off x="15337721" y="8168878"/>
            <a:ext cx="20002" cy="30004"/>
          </a:xfrm>
          <a:prstGeom prst="roundRect">
            <a:avLst>
              <a:gd name="adj" fmla="val 47620"/>
            </a:avLst>
          </a:prstGeom>
          <a:solidFill>
            <a:srgbClr val="FFFAFB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2"/>
          <p:cNvSpPr/>
          <p:nvPr/>
        </p:nvSpPr>
        <p:spPr>
          <a:xfrm>
            <a:off x="15377725" y="8128872"/>
            <a:ext cx="196372" cy="14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15537902" y="8128872"/>
            <a:ext cx="136364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750" dirty="0"/>
          </a:p>
        </p:txBody>
      </p:sp>
      <p:pic>
        <p:nvPicPr>
          <p:cNvPr id="6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33508" y="7888843"/>
            <a:ext cx="180022" cy="180023"/>
          </a:xfrm>
          <a:prstGeom prst="rect">
            <a:avLst/>
          </a:prstGeom>
        </p:spPr>
      </p:pic>
      <p:sp>
        <p:nvSpPr>
          <p:cNvPr id="63" name="Shape 54"/>
          <p:cNvSpPr/>
          <p:nvPr/>
        </p:nvSpPr>
        <p:spPr>
          <a:xfrm>
            <a:off x="16040777" y="2103120"/>
            <a:ext cx="922772" cy="660082"/>
          </a:xfrm>
          <a:prstGeom prst="roundRect">
            <a:avLst>
              <a:gd name="adj" fmla="val 14430"/>
            </a:avLst>
          </a:prstGeom>
          <a:solidFill>
            <a:srgbClr val="131515">
              <a:alpha val="85000"/>
            </a:srgbClr>
          </a:solidFill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Shape 55"/>
          <p:cNvSpPr/>
          <p:nvPr/>
        </p:nvSpPr>
        <p:spPr>
          <a:xfrm>
            <a:off x="16150791" y="2213134"/>
            <a:ext cx="80010" cy="80010"/>
          </a:xfrm>
          <a:prstGeom prst="ellipse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Text 56"/>
          <p:cNvSpPr/>
          <p:nvPr/>
        </p:nvSpPr>
        <p:spPr>
          <a:xfrm>
            <a:off x="16290808" y="2193131"/>
            <a:ext cx="455311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· 44</a:t>
            </a:r>
            <a:endParaRPr lang="en-US" sz="825" dirty="0"/>
          </a:p>
        </p:txBody>
      </p:sp>
      <p:sp>
        <p:nvSpPr>
          <p:cNvPr id="66" name="Shape 57"/>
          <p:cNvSpPr/>
          <p:nvPr/>
        </p:nvSpPr>
        <p:spPr>
          <a:xfrm>
            <a:off x="16150791" y="2393156"/>
            <a:ext cx="80010" cy="80010"/>
          </a:xfrm>
          <a:prstGeom prst="ellipse">
            <a:avLst/>
          </a:prstGeom>
          <a:solidFill>
            <a:srgbClr val="E8C6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Text 58"/>
          <p:cNvSpPr/>
          <p:nvPr/>
        </p:nvSpPr>
        <p:spPr>
          <a:xfrm>
            <a:off x="16290808" y="2373154"/>
            <a:ext cx="638927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· 4</a:t>
            </a:r>
            <a:endParaRPr lang="en-US" sz="825" dirty="0"/>
          </a:p>
        </p:txBody>
      </p:sp>
      <p:sp>
        <p:nvSpPr>
          <p:cNvPr id="68" name="Shape 59"/>
          <p:cNvSpPr/>
          <p:nvPr/>
        </p:nvSpPr>
        <p:spPr>
          <a:xfrm>
            <a:off x="16150791" y="2573179"/>
            <a:ext cx="80010" cy="80010"/>
          </a:xfrm>
          <a:prstGeom prst="ellipse">
            <a:avLst/>
          </a:prstGeom>
          <a:solidFill>
            <a:srgbClr val="E87C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Text 60"/>
          <p:cNvSpPr/>
          <p:nvPr/>
        </p:nvSpPr>
        <p:spPr>
          <a:xfrm>
            <a:off x="16290808" y="2553176"/>
            <a:ext cx="608142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Críticas · 2</a:t>
            </a:r>
            <a:endParaRPr lang="en-US" sz="825" dirty="0"/>
          </a:p>
        </p:txBody>
      </p:sp>
      <p:sp>
        <p:nvSpPr>
          <p:cNvPr id="70" name="Shape 61"/>
          <p:cNvSpPr/>
          <p:nvPr/>
        </p:nvSpPr>
        <p:spPr>
          <a:xfrm>
            <a:off x="13223081" y="8583930"/>
            <a:ext cx="3900488" cy="780098"/>
          </a:xfrm>
          <a:prstGeom prst="rect">
            <a:avLst/>
          </a:prstGeom>
          <a:solidFill>
            <a:srgbClr val="131515">
              <a:alpha val="9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Shape 62"/>
          <p:cNvSpPr/>
          <p:nvPr/>
        </p:nvSpPr>
        <p:spPr>
          <a:xfrm>
            <a:off x="13223081" y="8583930"/>
            <a:ext cx="3900488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77032" y="8683942"/>
            <a:ext cx="200025" cy="200025"/>
          </a:xfrm>
          <a:prstGeom prst="rect">
            <a:avLst/>
          </a:prstGeom>
        </p:spPr>
      </p:pic>
      <p:sp>
        <p:nvSpPr>
          <p:cNvPr id="73" name="Text 63"/>
          <p:cNvSpPr/>
          <p:nvPr/>
        </p:nvSpPr>
        <p:spPr>
          <a:xfrm>
            <a:off x="13542497" y="8953976"/>
            <a:ext cx="345452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750" dirty="0"/>
          </a:p>
        </p:txBody>
      </p:sp>
      <p:pic>
        <p:nvPicPr>
          <p:cNvPr id="7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25250" y="8683942"/>
            <a:ext cx="200025" cy="200025"/>
          </a:xfrm>
          <a:prstGeom prst="rect">
            <a:avLst/>
          </a:prstGeom>
        </p:spPr>
      </p:pic>
      <p:sp>
        <p:nvSpPr>
          <p:cNvPr id="75" name="Text 64"/>
          <p:cNvSpPr/>
          <p:nvPr/>
        </p:nvSpPr>
        <p:spPr>
          <a:xfrm>
            <a:off x="14204922" y="8953976"/>
            <a:ext cx="516724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750" dirty="0"/>
          </a:p>
        </p:txBody>
      </p:sp>
      <p:pic>
        <p:nvPicPr>
          <p:cNvPr id="7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073313" y="8683942"/>
            <a:ext cx="200025" cy="200025"/>
          </a:xfrm>
          <a:prstGeom prst="rect">
            <a:avLst/>
          </a:prstGeom>
        </p:spPr>
      </p:pic>
      <p:sp>
        <p:nvSpPr>
          <p:cNvPr id="77" name="Text 65"/>
          <p:cNvSpPr/>
          <p:nvPr/>
        </p:nvSpPr>
        <p:spPr>
          <a:xfrm>
            <a:off x="14994552" y="8953976"/>
            <a:ext cx="4337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750" dirty="0"/>
          </a:p>
        </p:txBody>
      </p:sp>
      <p:sp>
        <p:nvSpPr>
          <p:cNvPr id="78" name="Shape 66"/>
          <p:cNvSpPr/>
          <p:nvPr/>
        </p:nvSpPr>
        <p:spPr>
          <a:xfrm>
            <a:off x="15761367" y="8623935"/>
            <a:ext cx="320040" cy="350044"/>
          </a:xfrm>
          <a:prstGeom prst="roundRect">
            <a:avLst>
              <a:gd name="adj" fmla="val 35714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21375" y="8683942"/>
            <a:ext cx="200025" cy="200025"/>
          </a:xfrm>
          <a:prstGeom prst="rect">
            <a:avLst/>
          </a:prstGeom>
        </p:spPr>
      </p:pic>
      <p:sp>
        <p:nvSpPr>
          <p:cNvPr id="80" name="Text 67"/>
          <p:cNvSpPr/>
          <p:nvPr/>
        </p:nvSpPr>
        <p:spPr>
          <a:xfrm>
            <a:off x="15787464" y="8953976"/>
            <a:ext cx="3440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750" dirty="0"/>
          </a:p>
        </p:txBody>
      </p:sp>
      <p:pic>
        <p:nvPicPr>
          <p:cNvPr id="8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569437" y="8683942"/>
            <a:ext cx="200025" cy="200025"/>
          </a:xfrm>
          <a:prstGeom prst="rect">
            <a:avLst/>
          </a:prstGeom>
        </p:spPr>
      </p:pic>
      <p:sp>
        <p:nvSpPr>
          <p:cNvPr id="82" name="Text 68"/>
          <p:cNvSpPr/>
          <p:nvPr/>
        </p:nvSpPr>
        <p:spPr>
          <a:xfrm>
            <a:off x="16537558" y="8953976"/>
            <a:ext cx="340140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750" dirty="0"/>
          </a:p>
        </p:txBody>
      </p:sp>
      <p:sp>
        <p:nvSpPr>
          <p:cNvPr id="83" name="Shape 69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1668066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Parte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3956596"/>
            <a:ext cx="1373505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e </a:t>
            </a:r>
            <a:r>
              <a:rPr lang="en-US" sz="12000" b="1" kern="0" spc="-42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7704386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Perfil, configurações e os três estados que todo app esquece de desenhar: vazio, sincronizando e offline.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648075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10 · PERFIL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4029075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profissional.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705475"/>
            <a:ext cx="608266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Cabeçalho com avatar, nome e papel (CRMV se veterinário). Lista de fazendas vinculadas e atalho para alternar entre elas.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503116" y="1168003"/>
            <a:ext cx="494690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08:46</a:t>
            </a:r>
            <a:endParaRPr lang="en-US" sz="112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13383102" y="1613059"/>
            <a:ext cx="3234604" cy="25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1275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83514" y="1623060"/>
            <a:ext cx="200025" cy="20002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383102" y="1963103"/>
            <a:ext cx="3580447" cy="1100138"/>
          </a:xfrm>
          <a:prstGeom prst="roundRect">
            <a:avLst>
              <a:gd name="adj" fmla="val 13853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1"/>
          <p:cNvSpPr/>
          <p:nvPr/>
        </p:nvSpPr>
        <p:spPr>
          <a:xfrm>
            <a:off x="13593127" y="2193131"/>
            <a:ext cx="640081" cy="640080"/>
          </a:xfrm>
          <a:prstGeom prst="ellipse">
            <a:avLst/>
          </a:prstGeom>
          <a:solidFill>
            <a:srgbClr val="4F6E6A"/>
          </a:solidFill>
          <a:ln w="19050">
            <a:solidFill>
              <a:srgbClr val="339989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13783776" y="2373154"/>
            <a:ext cx="334983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4373225" y="2173129"/>
            <a:ext cx="2456498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Lima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373225" y="2453164"/>
            <a:ext cx="245649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Veterinária responsável</a:t>
            </a:r>
            <a:endParaRPr lang="en-US" sz="975" dirty="0"/>
          </a:p>
        </p:txBody>
      </p:sp>
      <p:sp>
        <p:nvSpPr>
          <p:cNvPr id="20" name="Shape 15"/>
          <p:cNvSpPr/>
          <p:nvPr/>
        </p:nvSpPr>
        <p:spPr>
          <a:xfrm>
            <a:off x="14373225" y="2683193"/>
            <a:ext cx="745874" cy="170021"/>
          </a:xfrm>
          <a:prstGeom prst="roundRect">
            <a:avLst>
              <a:gd name="adj" fmla="val 50000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6"/>
          <p:cNvSpPr/>
          <p:nvPr/>
        </p:nvSpPr>
        <p:spPr>
          <a:xfrm>
            <a:off x="14453235" y="2713196"/>
            <a:ext cx="662054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Veterinária</a:t>
            </a:r>
            <a:endParaRPr lang="en-US" sz="825" dirty="0"/>
          </a:p>
        </p:txBody>
      </p:sp>
      <p:sp>
        <p:nvSpPr>
          <p:cNvPr id="22" name="Shape 17"/>
          <p:cNvSpPr/>
          <p:nvPr/>
        </p:nvSpPr>
        <p:spPr>
          <a:xfrm>
            <a:off x="15179107" y="2683193"/>
            <a:ext cx="997312" cy="170021"/>
          </a:xfrm>
          <a:prstGeom prst="roundRect">
            <a:avLst>
              <a:gd name="adj" fmla="val 5000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8"/>
          <p:cNvSpPr/>
          <p:nvPr/>
        </p:nvSpPr>
        <p:spPr>
          <a:xfrm>
            <a:off x="15259117" y="2713196"/>
            <a:ext cx="913492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8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CRMV-PR 12345</a:t>
            </a:r>
            <a:endParaRPr lang="en-US" sz="825" dirty="0"/>
          </a:p>
        </p:txBody>
      </p:sp>
      <p:sp>
        <p:nvSpPr>
          <p:cNvPr id="24" name="Shape 19"/>
          <p:cNvSpPr/>
          <p:nvPr/>
        </p:nvSpPr>
        <p:spPr>
          <a:xfrm>
            <a:off x="13383102" y="3203257"/>
            <a:ext cx="1140142" cy="840105"/>
          </a:xfrm>
          <a:prstGeom prst="roundRect">
            <a:avLst>
              <a:gd name="adj" fmla="val 18141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0"/>
          <p:cNvSpPr/>
          <p:nvPr/>
        </p:nvSpPr>
        <p:spPr>
          <a:xfrm>
            <a:off x="13475018" y="3333274"/>
            <a:ext cx="95630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13475018" y="3653314"/>
            <a:ext cx="956309" cy="2981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Vacas</a:t>
            </a:r>
            <a:endParaRPr lang="en-US" sz="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monitoradas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14603254" y="3203257"/>
            <a:ext cx="1140142" cy="840105"/>
          </a:xfrm>
          <a:prstGeom prst="roundRect">
            <a:avLst>
              <a:gd name="adj" fmla="val 18141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3"/>
          <p:cNvSpPr/>
          <p:nvPr/>
        </p:nvSpPr>
        <p:spPr>
          <a:xfrm>
            <a:off x="14695170" y="3333274"/>
            <a:ext cx="95630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650" dirty="0"/>
          </a:p>
        </p:txBody>
      </p:sp>
      <p:sp>
        <p:nvSpPr>
          <p:cNvPr id="29" name="Text 24"/>
          <p:cNvSpPr/>
          <p:nvPr/>
        </p:nvSpPr>
        <p:spPr>
          <a:xfrm>
            <a:off x="14695170" y="3653314"/>
            <a:ext cx="956309" cy="2981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</a:t>
            </a:r>
            <a:endParaRPr lang="en-US" sz="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resolvidos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15823406" y="3203257"/>
            <a:ext cx="1140142" cy="840105"/>
          </a:xfrm>
          <a:prstGeom prst="roundRect">
            <a:avLst>
              <a:gd name="adj" fmla="val 18141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6"/>
          <p:cNvSpPr/>
          <p:nvPr/>
        </p:nvSpPr>
        <p:spPr>
          <a:xfrm>
            <a:off x="15915323" y="3333274"/>
            <a:ext cx="95631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50" dirty="0"/>
          </a:p>
        </p:txBody>
      </p:sp>
      <p:sp>
        <p:nvSpPr>
          <p:cNvPr id="32" name="Text 27"/>
          <p:cNvSpPr/>
          <p:nvPr/>
        </p:nvSpPr>
        <p:spPr>
          <a:xfrm>
            <a:off x="15915323" y="3653314"/>
            <a:ext cx="956310" cy="2981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em</a:t>
            </a:r>
            <a:endParaRPr lang="en-US" sz="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13383102" y="4183380"/>
            <a:ext cx="3580447" cy="2450306"/>
          </a:xfrm>
          <a:prstGeom prst="roundRect">
            <a:avLst>
              <a:gd name="adj" fmla="val 622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29"/>
          <p:cNvSpPr/>
          <p:nvPr/>
        </p:nvSpPr>
        <p:spPr>
          <a:xfrm>
            <a:off x="13553123" y="4333399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33133" y="4413409"/>
            <a:ext cx="160019" cy="1600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3993177" y="4348401"/>
            <a:ext cx="2596515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Fazenda</a:t>
            </a:r>
            <a:endParaRPr lang="en-US" sz="825" dirty="0"/>
          </a:p>
        </p:txBody>
      </p:sp>
      <p:sp>
        <p:nvSpPr>
          <p:cNvPr id="37" name="Text 31"/>
          <p:cNvSpPr/>
          <p:nvPr/>
        </p:nvSpPr>
        <p:spPr>
          <a:xfrm>
            <a:off x="13993177" y="4478417"/>
            <a:ext cx="259651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FEGA · PUCPR</a:t>
            </a:r>
            <a:endParaRPr lang="en-US" sz="105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4413409"/>
            <a:ext cx="160019" cy="16002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13393102" y="4793456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3"/>
          <p:cNvSpPr/>
          <p:nvPr/>
        </p:nvSpPr>
        <p:spPr>
          <a:xfrm>
            <a:off x="13553123" y="4943475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33133" y="5023485"/>
            <a:ext cx="160019" cy="16002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3993177" y="4958477"/>
            <a:ext cx="2596515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Localização</a:t>
            </a:r>
            <a:endParaRPr lang="en-US" sz="825" dirty="0"/>
          </a:p>
        </p:txBody>
      </p:sp>
      <p:sp>
        <p:nvSpPr>
          <p:cNvPr id="43" name="Text 35"/>
          <p:cNvSpPr/>
          <p:nvPr/>
        </p:nvSpPr>
        <p:spPr>
          <a:xfrm>
            <a:off x="13993177" y="5088493"/>
            <a:ext cx="259651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José dos Pinhais, PR</a:t>
            </a:r>
            <a:endParaRPr lang="en-US" sz="105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5023485"/>
            <a:ext cx="160019" cy="16002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13393102" y="5403532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37"/>
          <p:cNvSpPr/>
          <p:nvPr/>
        </p:nvSpPr>
        <p:spPr>
          <a:xfrm>
            <a:off x="13553123" y="5553551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33133" y="5633561"/>
            <a:ext cx="160019" cy="16002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3993177" y="5568553"/>
            <a:ext cx="2596515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</a:t>
            </a:r>
            <a:endParaRPr lang="en-US" sz="825" dirty="0"/>
          </a:p>
        </p:txBody>
      </p:sp>
      <p:sp>
        <p:nvSpPr>
          <p:cNvPr id="49" name="Text 39"/>
          <p:cNvSpPr/>
          <p:nvPr/>
        </p:nvSpPr>
        <p:spPr>
          <a:xfrm>
            <a:off x="13993177" y="5698570"/>
            <a:ext cx="2596515" cy="19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· E-mail · SMS</a:t>
            </a:r>
            <a:endParaRPr lang="en-US" sz="1050" dirty="0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5633561"/>
            <a:ext cx="160019" cy="160020"/>
          </a:xfrm>
          <a:prstGeom prst="rect">
            <a:avLst/>
          </a:prstGeom>
        </p:spPr>
      </p:pic>
      <p:sp>
        <p:nvSpPr>
          <p:cNvPr id="51" name="Shape 40"/>
          <p:cNvSpPr/>
          <p:nvPr/>
        </p:nvSpPr>
        <p:spPr>
          <a:xfrm>
            <a:off x="13393102" y="6013609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41"/>
          <p:cNvSpPr/>
          <p:nvPr/>
        </p:nvSpPr>
        <p:spPr>
          <a:xfrm>
            <a:off x="13553123" y="6163627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33133" y="6243638"/>
            <a:ext cx="160019" cy="160020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13993177" y="6178630"/>
            <a:ext cx="2596515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Permissões</a:t>
            </a:r>
            <a:endParaRPr lang="en-US" sz="825" dirty="0"/>
          </a:p>
        </p:txBody>
      </p:sp>
      <p:sp>
        <p:nvSpPr>
          <p:cNvPr id="55" name="Text 43"/>
          <p:cNvSpPr/>
          <p:nvPr/>
        </p:nvSpPr>
        <p:spPr>
          <a:xfrm>
            <a:off x="13993177" y="6308645"/>
            <a:ext cx="259651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completo</a:t>
            </a:r>
            <a:endParaRPr lang="en-US" sz="1050" dirty="0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6243638"/>
            <a:ext cx="160019" cy="160020"/>
          </a:xfrm>
          <a:prstGeom prst="rect">
            <a:avLst/>
          </a:prstGeom>
        </p:spPr>
      </p:pic>
      <p:sp>
        <p:nvSpPr>
          <p:cNvPr id="57" name="Shape 44"/>
          <p:cNvSpPr/>
          <p:nvPr/>
        </p:nvSpPr>
        <p:spPr>
          <a:xfrm>
            <a:off x="13383102" y="6773704"/>
            <a:ext cx="3580447" cy="480059"/>
          </a:xfrm>
          <a:prstGeom prst="roundRect">
            <a:avLst>
              <a:gd name="adj" fmla="val 23810"/>
            </a:avLst>
          </a:prstGeom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04854" y="6923723"/>
            <a:ext cx="180023" cy="180023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15126786" y="6908720"/>
            <a:ext cx="352954" cy="24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Sair</a:t>
            </a:r>
            <a:endParaRPr lang="en-US" sz="1125" dirty="0"/>
          </a:p>
        </p:txBody>
      </p:sp>
      <p:sp>
        <p:nvSpPr>
          <p:cNvPr id="60" name="Text 46"/>
          <p:cNvSpPr/>
          <p:nvPr/>
        </p:nvSpPr>
        <p:spPr>
          <a:xfrm>
            <a:off x="13329395" y="7393781"/>
            <a:ext cx="368786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CowHealth AI · v1.7.0 · build 240615</a:t>
            </a:r>
            <a:endParaRPr lang="en-US" sz="825" dirty="0"/>
          </a:p>
        </p:txBody>
      </p:sp>
      <p:sp>
        <p:nvSpPr>
          <p:cNvPr id="61" name="Shape 47"/>
          <p:cNvSpPr/>
          <p:nvPr/>
        </p:nvSpPr>
        <p:spPr>
          <a:xfrm>
            <a:off x="13223081" y="8583930"/>
            <a:ext cx="3900488" cy="780098"/>
          </a:xfrm>
          <a:prstGeom prst="rect">
            <a:avLst/>
          </a:prstGeom>
          <a:solidFill>
            <a:srgbClr val="131515">
              <a:alpha val="9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Shape 48"/>
          <p:cNvSpPr/>
          <p:nvPr/>
        </p:nvSpPr>
        <p:spPr>
          <a:xfrm>
            <a:off x="13223081" y="8583930"/>
            <a:ext cx="3900488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77032" y="8683942"/>
            <a:ext cx="200025" cy="200025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13542497" y="8953976"/>
            <a:ext cx="345452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750" dirty="0"/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25250" y="8683942"/>
            <a:ext cx="200025" cy="200025"/>
          </a:xfrm>
          <a:prstGeom prst="rect">
            <a:avLst/>
          </a:prstGeom>
        </p:spPr>
      </p:pic>
      <p:sp>
        <p:nvSpPr>
          <p:cNvPr id="66" name="Text 50"/>
          <p:cNvSpPr/>
          <p:nvPr/>
        </p:nvSpPr>
        <p:spPr>
          <a:xfrm>
            <a:off x="14204922" y="8953976"/>
            <a:ext cx="516724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750" dirty="0"/>
          </a:p>
        </p:txBody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73313" y="8683942"/>
            <a:ext cx="200025" cy="200025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14994552" y="8953976"/>
            <a:ext cx="4337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750" dirty="0"/>
          </a:p>
        </p:txBody>
      </p:sp>
      <p:pic>
        <p:nvPicPr>
          <p:cNvPr id="69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821375" y="8683942"/>
            <a:ext cx="200025" cy="200025"/>
          </a:xfrm>
          <a:prstGeom prst="rect">
            <a:avLst/>
          </a:prstGeom>
        </p:spPr>
      </p:pic>
      <p:sp>
        <p:nvSpPr>
          <p:cNvPr id="70" name="Text 52"/>
          <p:cNvSpPr/>
          <p:nvPr/>
        </p:nvSpPr>
        <p:spPr>
          <a:xfrm>
            <a:off x="15787464" y="8953976"/>
            <a:ext cx="344046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750" dirty="0"/>
          </a:p>
        </p:txBody>
      </p:sp>
      <p:sp>
        <p:nvSpPr>
          <p:cNvPr id="71" name="Shape 53"/>
          <p:cNvSpPr/>
          <p:nvPr/>
        </p:nvSpPr>
        <p:spPr>
          <a:xfrm>
            <a:off x="16509429" y="8623935"/>
            <a:ext cx="320040" cy="350044"/>
          </a:xfrm>
          <a:prstGeom prst="roundRect">
            <a:avLst>
              <a:gd name="adj" fmla="val 35714"/>
            </a:avLst>
          </a:prstGeom>
          <a:solidFill>
            <a:srgbClr val="339989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2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569437" y="8683942"/>
            <a:ext cx="200025" cy="200025"/>
          </a:xfrm>
          <a:prstGeom prst="rect">
            <a:avLst/>
          </a:prstGeom>
        </p:spPr>
      </p:pic>
      <p:sp>
        <p:nvSpPr>
          <p:cNvPr id="73" name="Text 54"/>
          <p:cNvSpPr/>
          <p:nvPr/>
        </p:nvSpPr>
        <p:spPr>
          <a:xfrm>
            <a:off x="16537558" y="8953976"/>
            <a:ext cx="340140" cy="17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15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750" dirty="0"/>
          </a:p>
        </p:txBody>
      </p:sp>
      <p:sp>
        <p:nvSpPr>
          <p:cNvPr id="74" name="Shape 55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852863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11 · CONFIGURAÇÕES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4233863"/>
            <a:ext cx="745617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curados.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186363"/>
            <a:ext cx="60826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 por severidade, modo de coleta padrão das coleiras, unidades, idioma e exportação. Sem labirintos de submenus.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503116" y="1168003"/>
            <a:ext cx="494690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08:46</a:t>
            </a:r>
            <a:endParaRPr lang="en-US" sz="112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3112" y="1623060"/>
            <a:ext cx="200025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23156" y="1613059"/>
            <a:ext cx="3234604" cy="25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Configurações</a:t>
            </a:r>
            <a:endParaRPr lang="en-US" sz="1275" dirty="0"/>
          </a:p>
        </p:txBody>
      </p:sp>
      <p:sp>
        <p:nvSpPr>
          <p:cNvPr id="15" name="Text 10"/>
          <p:cNvSpPr/>
          <p:nvPr/>
        </p:nvSpPr>
        <p:spPr>
          <a:xfrm>
            <a:off x="13421202" y="1963103"/>
            <a:ext cx="3611660" cy="19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DE DADOS</a:t>
            </a:r>
            <a:endParaRPr lang="en-US" sz="825" dirty="0"/>
          </a:p>
        </p:txBody>
      </p:sp>
      <p:sp>
        <p:nvSpPr>
          <p:cNvPr id="16" name="Shape 11"/>
          <p:cNvSpPr/>
          <p:nvPr/>
        </p:nvSpPr>
        <p:spPr>
          <a:xfrm>
            <a:off x="13383102" y="2193131"/>
            <a:ext cx="3580447" cy="1790224"/>
          </a:xfrm>
          <a:prstGeom prst="roundRect">
            <a:avLst>
              <a:gd name="adj" fmla="val 8513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13553123" y="2363153"/>
            <a:ext cx="3337617" cy="2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Frequência de medição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3553123" y="2583180"/>
            <a:ext cx="3337617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Intervalo entre leituras das coleiras. Menor intervalo = mais bateria.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3553123" y="3003232"/>
            <a:ext cx="1026691" cy="810101"/>
          </a:xfrm>
          <a:prstGeom prst="roundRect">
            <a:avLst>
              <a:gd name="adj" fmla="val 14109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5"/>
          <p:cNvSpPr/>
          <p:nvPr/>
        </p:nvSpPr>
        <p:spPr>
          <a:xfrm>
            <a:off x="13605034" y="3133249"/>
            <a:ext cx="92286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</a:t>
            </a:r>
            <a:endParaRPr lang="en-US" sz="825" dirty="0"/>
          </a:p>
        </p:txBody>
      </p:sp>
      <p:sp>
        <p:nvSpPr>
          <p:cNvPr id="21" name="Text 16"/>
          <p:cNvSpPr/>
          <p:nvPr/>
        </p:nvSpPr>
        <p:spPr>
          <a:xfrm>
            <a:off x="13605034" y="3323272"/>
            <a:ext cx="922868" cy="268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3605034" y="3573304"/>
            <a:ext cx="922868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Animais críticos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14659824" y="3003232"/>
            <a:ext cx="1026847" cy="810101"/>
          </a:xfrm>
          <a:prstGeom prst="roundRect">
            <a:avLst>
              <a:gd name="adj" fmla="val 14109"/>
            </a:avLst>
          </a:prstGeom>
          <a:solidFill>
            <a:srgbClr val="339989">
              <a:alpha val="16000"/>
            </a:srgbClr>
          </a:solidFill>
          <a:ln w="9525">
            <a:solidFill>
              <a:srgbClr val="33998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9"/>
          <p:cNvSpPr/>
          <p:nvPr/>
        </p:nvSpPr>
        <p:spPr>
          <a:xfrm>
            <a:off x="14711735" y="3133249"/>
            <a:ext cx="92302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825" dirty="0"/>
          </a:p>
        </p:txBody>
      </p:sp>
      <p:sp>
        <p:nvSpPr>
          <p:cNvPr id="25" name="Text 20"/>
          <p:cNvSpPr/>
          <p:nvPr/>
        </p:nvSpPr>
        <p:spPr>
          <a:xfrm>
            <a:off x="14711735" y="3323272"/>
            <a:ext cx="923025" cy="268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14711735" y="3573304"/>
            <a:ext cx="923025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15766681" y="3003232"/>
            <a:ext cx="1026691" cy="810101"/>
          </a:xfrm>
          <a:prstGeom prst="roundRect">
            <a:avLst>
              <a:gd name="adj" fmla="val 14109"/>
            </a:avLst>
          </a:prstGeom>
          <a:solidFill>
            <a:srgbClr val="131515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3"/>
          <p:cNvSpPr/>
          <p:nvPr/>
        </p:nvSpPr>
        <p:spPr>
          <a:xfrm>
            <a:off x="15818591" y="3133249"/>
            <a:ext cx="92286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</a:t>
            </a:r>
            <a:endParaRPr lang="en-US" sz="825" dirty="0"/>
          </a:p>
        </p:txBody>
      </p:sp>
      <p:sp>
        <p:nvSpPr>
          <p:cNvPr id="29" name="Text 24"/>
          <p:cNvSpPr/>
          <p:nvPr/>
        </p:nvSpPr>
        <p:spPr>
          <a:xfrm>
            <a:off x="15818591" y="3323272"/>
            <a:ext cx="922868" cy="268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15818591" y="3573304"/>
            <a:ext cx="922868" cy="14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noturno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13421202" y="4123372"/>
            <a:ext cx="3611660" cy="19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</a:t>
            </a:r>
            <a:endParaRPr lang="en-US" sz="825" dirty="0"/>
          </a:p>
        </p:txBody>
      </p:sp>
      <p:sp>
        <p:nvSpPr>
          <p:cNvPr id="32" name="Shape 27"/>
          <p:cNvSpPr/>
          <p:nvPr/>
        </p:nvSpPr>
        <p:spPr>
          <a:xfrm>
            <a:off x="13383102" y="4353401"/>
            <a:ext cx="3580447" cy="2490311"/>
          </a:xfrm>
          <a:prstGeom prst="roundRect">
            <a:avLst>
              <a:gd name="adj" fmla="val 6120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8"/>
          <p:cNvSpPr/>
          <p:nvPr/>
        </p:nvSpPr>
        <p:spPr>
          <a:xfrm>
            <a:off x="13553123" y="4503420"/>
            <a:ext cx="2822552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críticos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13553123" y="4713446"/>
            <a:ext cx="282255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Febre, FC anômala, parada de movimento</a:t>
            </a:r>
            <a:endParaRPr lang="en-US" sz="825" dirty="0"/>
          </a:p>
        </p:txBody>
      </p:sp>
      <p:sp>
        <p:nvSpPr>
          <p:cNvPr id="35" name="Shape 30"/>
          <p:cNvSpPr/>
          <p:nvPr/>
        </p:nvSpPr>
        <p:spPr>
          <a:xfrm>
            <a:off x="16413480" y="4558427"/>
            <a:ext cx="380048" cy="220027"/>
          </a:xfrm>
          <a:prstGeom prst="roundRect">
            <a:avLst>
              <a:gd name="adj" fmla="val 5000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1"/>
          <p:cNvSpPr/>
          <p:nvPr/>
        </p:nvSpPr>
        <p:spPr>
          <a:xfrm>
            <a:off x="16593502" y="4578429"/>
            <a:ext cx="180023" cy="180023"/>
          </a:xfrm>
          <a:prstGeom prst="ellipse">
            <a:avLst/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2"/>
          <p:cNvSpPr/>
          <p:nvPr/>
        </p:nvSpPr>
        <p:spPr>
          <a:xfrm>
            <a:off x="13393102" y="4973479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3"/>
          <p:cNvSpPr/>
          <p:nvPr/>
        </p:nvSpPr>
        <p:spPr>
          <a:xfrm>
            <a:off x="13553123" y="5123498"/>
            <a:ext cx="2822552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Avisos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13553123" y="5333523"/>
            <a:ext cx="282255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Bateria, conectividade, baixa atividade</a:t>
            </a:r>
            <a:endParaRPr lang="en-US" sz="825" dirty="0"/>
          </a:p>
        </p:txBody>
      </p:sp>
      <p:sp>
        <p:nvSpPr>
          <p:cNvPr id="40" name="Shape 35"/>
          <p:cNvSpPr/>
          <p:nvPr/>
        </p:nvSpPr>
        <p:spPr>
          <a:xfrm>
            <a:off x="16413480" y="5178504"/>
            <a:ext cx="380048" cy="220028"/>
          </a:xfrm>
          <a:prstGeom prst="roundRect">
            <a:avLst>
              <a:gd name="adj" fmla="val 5000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6"/>
          <p:cNvSpPr/>
          <p:nvPr/>
        </p:nvSpPr>
        <p:spPr>
          <a:xfrm>
            <a:off x="16593502" y="5198507"/>
            <a:ext cx="180023" cy="180022"/>
          </a:xfrm>
          <a:prstGeom prst="ellipse">
            <a:avLst/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37"/>
          <p:cNvSpPr/>
          <p:nvPr/>
        </p:nvSpPr>
        <p:spPr>
          <a:xfrm>
            <a:off x="13393102" y="5593556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38"/>
          <p:cNvSpPr/>
          <p:nvPr/>
        </p:nvSpPr>
        <p:spPr>
          <a:xfrm>
            <a:off x="13553123" y="5743575"/>
            <a:ext cx="2822552" cy="22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diário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13553123" y="5953602"/>
            <a:ext cx="282255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dia às 07:00</a:t>
            </a:r>
            <a:endParaRPr lang="en-US" sz="825" dirty="0"/>
          </a:p>
        </p:txBody>
      </p:sp>
      <p:sp>
        <p:nvSpPr>
          <p:cNvPr id="45" name="Shape 40"/>
          <p:cNvSpPr/>
          <p:nvPr/>
        </p:nvSpPr>
        <p:spPr>
          <a:xfrm>
            <a:off x="16413480" y="5798582"/>
            <a:ext cx="380048" cy="220027"/>
          </a:xfrm>
          <a:prstGeom prst="roundRect">
            <a:avLst>
              <a:gd name="adj" fmla="val 50000"/>
            </a:avLst>
          </a:prstGeom>
          <a:solidFill>
            <a:srgbClr val="3638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1"/>
          <p:cNvSpPr/>
          <p:nvPr/>
        </p:nvSpPr>
        <p:spPr>
          <a:xfrm>
            <a:off x="16433483" y="5818584"/>
            <a:ext cx="180022" cy="180023"/>
          </a:xfrm>
          <a:prstGeom prst="ellipse">
            <a:avLst/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2"/>
          <p:cNvSpPr/>
          <p:nvPr/>
        </p:nvSpPr>
        <p:spPr>
          <a:xfrm>
            <a:off x="13393102" y="6213634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3"/>
          <p:cNvSpPr/>
          <p:nvPr/>
        </p:nvSpPr>
        <p:spPr>
          <a:xfrm>
            <a:off x="13553123" y="6363652"/>
            <a:ext cx="2822552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/ SMS</a:t>
            </a:r>
            <a:endParaRPr lang="en-US" sz="1050" dirty="0"/>
          </a:p>
        </p:txBody>
      </p:sp>
      <p:sp>
        <p:nvSpPr>
          <p:cNvPr id="49" name="Text 44"/>
          <p:cNvSpPr/>
          <p:nvPr/>
        </p:nvSpPr>
        <p:spPr>
          <a:xfrm>
            <a:off x="13553123" y="6573679"/>
            <a:ext cx="2822552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ana.lima@fega.pucpr.br</a:t>
            </a:r>
            <a:endParaRPr lang="en-US" sz="825" dirty="0"/>
          </a:p>
        </p:txBody>
      </p:sp>
      <p:sp>
        <p:nvSpPr>
          <p:cNvPr id="50" name="Shape 45"/>
          <p:cNvSpPr/>
          <p:nvPr/>
        </p:nvSpPr>
        <p:spPr>
          <a:xfrm>
            <a:off x="16413480" y="6418659"/>
            <a:ext cx="380048" cy="220027"/>
          </a:xfrm>
          <a:prstGeom prst="roundRect">
            <a:avLst>
              <a:gd name="adj" fmla="val 5000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6"/>
          <p:cNvSpPr/>
          <p:nvPr/>
        </p:nvSpPr>
        <p:spPr>
          <a:xfrm>
            <a:off x="16593502" y="6438662"/>
            <a:ext cx="180023" cy="180023"/>
          </a:xfrm>
          <a:prstGeom prst="ellipse">
            <a:avLst/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47"/>
          <p:cNvSpPr/>
          <p:nvPr/>
        </p:nvSpPr>
        <p:spPr>
          <a:xfrm>
            <a:off x="13421202" y="6983730"/>
            <a:ext cx="3611660" cy="19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</a:t>
            </a:r>
            <a:endParaRPr lang="en-US" sz="825" dirty="0"/>
          </a:p>
        </p:txBody>
      </p:sp>
      <p:sp>
        <p:nvSpPr>
          <p:cNvPr id="53" name="Shape 48"/>
          <p:cNvSpPr/>
          <p:nvPr/>
        </p:nvSpPr>
        <p:spPr>
          <a:xfrm>
            <a:off x="13383102" y="7213759"/>
            <a:ext cx="3580447" cy="2360295"/>
          </a:xfrm>
          <a:prstGeom prst="roundRect">
            <a:avLst>
              <a:gd name="adj" fmla="val 6457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53123" y="7363777"/>
            <a:ext cx="180023" cy="180023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13853160" y="7373779"/>
            <a:ext cx="2740142" cy="19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 perfil</a:t>
            </a:r>
            <a:endParaRPr lang="en-US" sz="1050" dirty="0"/>
          </a:p>
        </p:txBody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7373779"/>
            <a:ext cx="160019" cy="160019"/>
          </a:xfrm>
          <a:prstGeom prst="rect">
            <a:avLst/>
          </a:prstGeom>
        </p:spPr>
      </p:pic>
      <p:sp>
        <p:nvSpPr>
          <p:cNvPr id="57" name="Shape 50"/>
          <p:cNvSpPr/>
          <p:nvPr/>
        </p:nvSpPr>
        <p:spPr>
          <a:xfrm>
            <a:off x="13393102" y="7683817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53123" y="7833836"/>
            <a:ext cx="180023" cy="180023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13853160" y="7843838"/>
            <a:ext cx="2740142" cy="19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 e segurança</a:t>
            </a:r>
            <a:endParaRPr lang="en-US" sz="1050" dirty="0"/>
          </a:p>
        </p:txBody>
      </p:sp>
      <p:pic>
        <p:nvPicPr>
          <p:cNvPr id="6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7843838"/>
            <a:ext cx="160019" cy="160019"/>
          </a:xfrm>
          <a:prstGeom prst="rect">
            <a:avLst/>
          </a:prstGeom>
        </p:spPr>
      </p:pic>
      <p:sp>
        <p:nvSpPr>
          <p:cNvPr id="61" name="Shape 52"/>
          <p:cNvSpPr/>
          <p:nvPr/>
        </p:nvSpPr>
        <p:spPr>
          <a:xfrm>
            <a:off x="13393102" y="8153876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53123" y="8303894"/>
            <a:ext cx="180023" cy="180023"/>
          </a:xfrm>
          <a:prstGeom prst="rect">
            <a:avLst/>
          </a:prstGeom>
        </p:spPr>
      </p:pic>
      <p:sp>
        <p:nvSpPr>
          <p:cNvPr id="63" name="Text 53"/>
          <p:cNvSpPr/>
          <p:nvPr/>
        </p:nvSpPr>
        <p:spPr>
          <a:xfrm>
            <a:off x="13853160" y="8313896"/>
            <a:ext cx="17204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Idioma</a:t>
            </a:r>
            <a:endParaRPr lang="en-US" sz="1050" dirty="0"/>
          </a:p>
        </p:txBody>
      </p:sp>
      <p:sp>
        <p:nvSpPr>
          <p:cNvPr id="64" name="Text 54"/>
          <p:cNvSpPr/>
          <p:nvPr/>
        </p:nvSpPr>
        <p:spPr>
          <a:xfrm>
            <a:off x="15617443" y="8318897"/>
            <a:ext cx="972249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 (BR)</a:t>
            </a:r>
            <a:endParaRPr lang="en-US" sz="975" dirty="0"/>
          </a:p>
        </p:txBody>
      </p:sp>
      <p:pic>
        <p:nvPicPr>
          <p:cNvPr id="6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8313896"/>
            <a:ext cx="160019" cy="160020"/>
          </a:xfrm>
          <a:prstGeom prst="rect">
            <a:avLst/>
          </a:prstGeom>
        </p:spPr>
      </p:pic>
      <p:sp>
        <p:nvSpPr>
          <p:cNvPr id="66" name="Shape 55"/>
          <p:cNvSpPr/>
          <p:nvPr/>
        </p:nvSpPr>
        <p:spPr>
          <a:xfrm>
            <a:off x="13393102" y="8623935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7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53123" y="8773954"/>
            <a:ext cx="180023" cy="180022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13853160" y="8783955"/>
            <a:ext cx="274014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Privacidade · LGPD</a:t>
            </a:r>
            <a:endParaRPr lang="en-US" sz="1050" dirty="0"/>
          </a:p>
        </p:txBody>
      </p:sp>
      <p:pic>
        <p:nvPicPr>
          <p:cNvPr id="69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8783955"/>
            <a:ext cx="160019" cy="160020"/>
          </a:xfrm>
          <a:prstGeom prst="rect">
            <a:avLst/>
          </a:prstGeom>
        </p:spPr>
      </p:pic>
      <p:sp>
        <p:nvSpPr>
          <p:cNvPr id="70" name="Shape 57"/>
          <p:cNvSpPr/>
          <p:nvPr/>
        </p:nvSpPr>
        <p:spPr>
          <a:xfrm>
            <a:off x="13393102" y="9093994"/>
            <a:ext cx="3560445" cy="9525"/>
          </a:xfrm>
          <a:prstGeom prst="rect">
            <a:avLst/>
          </a:prstGeom>
          <a:solidFill>
            <a:srgbClr val="FFFAFB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53123" y="9244013"/>
            <a:ext cx="180023" cy="180023"/>
          </a:xfrm>
          <a:prstGeom prst="rect">
            <a:avLst/>
          </a:prstGeom>
        </p:spPr>
      </p:pic>
      <p:sp>
        <p:nvSpPr>
          <p:cNvPr id="72" name="Text 58"/>
          <p:cNvSpPr/>
          <p:nvPr/>
        </p:nvSpPr>
        <p:spPr>
          <a:xfrm>
            <a:off x="13853160" y="9254013"/>
            <a:ext cx="274014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Ajuda e suporte</a:t>
            </a:r>
            <a:endParaRPr lang="en-US" sz="1050" dirty="0"/>
          </a:p>
        </p:txBody>
      </p:sp>
      <p:pic>
        <p:nvPicPr>
          <p:cNvPr id="73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508" y="9254013"/>
            <a:ext cx="160019" cy="160020"/>
          </a:xfrm>
          <a:prstGeom prst="rect">
            <a:avLst/>
          </a:prstGeom>
        </p:spPr>
      </p:pic>
      <p:sp>
        <p:nvSpPr>
          <p:cNvPr id="74" name="Shape 59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648075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12A · ESTADO VAZIO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4029075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Vazio com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705475"/>
            <a:ext cx="608266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ainda não há animais cadastrados. Ilustração leve, copy direta e CTA claro: "Adicionar primeira vaca".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503116" y="1168003"/>
            <a:ext cx="479531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08:47</a:t>
            </a:r>
            <a:endParaRPr lang="en-US" sz="112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3112" y="1623060"/>
            <a:ext cx="200025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23156" y="1613059"/>
            <a:ext cx="3234604" cy="25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Rebanho</a:t>
            </a:r>
            <a:endParaRPr lang="en-US" sz="1275" dirty="0"/>
          </a:p>
        </p:txBody>
      </p:sp>
      <p:sp>
        <p:nvSpPr>
          <p:cNvPr id="15" name="Shape 10"/>
          <p:cNvSpPr/>
          <p:nvPr/>
        </p:nvSpPr>
        <p:spPr>
          <a:xfrm>
            <a:off x="14693265" y="4306520"/>
            <a:ext cx="960120" cy="960120"/>
          </a:xfrm>
          <a:prstGeom prst="roundRect">
            <a:avLst>
              <a:gd name="adj" fmla="val 23810"/>
            </a:avLst>
          </a:prstGeom>
          <a:solidFill>
            <a:srgbClr val="1B1D1D"/>
          </a:solidFill>
          <a:ln w="9525">
            <a:solidFill>
              <a:srgbClr val="FFFAFB">
                <a:alpha val="12000"/>
              </a:srgbClr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33295" y="4546550"/>
            <a:ext cx="480059" cy="4800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935075" y="5426661"/>
            <a:ext cx="2476500" cy="26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coleira pareada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3935075" y="5716696"/>
            <a:ext cx="2476500" cy="40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Adicione uma coleira para começar a monitorar sinais vitais em tempo real.</a:t>
            </a:r>
            <a:endParaRPr lang="en-US" sz="975" dirty="0"/>
          </a:p>
        </p:txBody>
      </p:sp>
      <p:sp>
        <p:nvSpPr>
          <p:cNvPr id="19" name="Shape 13"/>
          <p:cNvSpPr/>
          <p:nvPr/>
        </p:nvSpPr>
        <p:spPr>
          <a:xfrm>
            <a:off x="14358848" y="6240512"/>
            <a:ext cx="1628954" cy="480060"/>
          </a:xfrm>
          <a:prstGeom prst="roundRect">
            <a:avLst>
              <a:gd name="adj" fmla="val 2381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58873" y="6390531"/>
            <a:ext cx="180023" cy="18002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780806" y="6375529"/>
            <a:ext cx="1045071" cy="24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Parear coleira</a:t>
            </a:r>
            <a:endParaRPr lang="en-US" sz="1125" dirty="0"/>
          </a:p>
        </p:txBody>
      </p:sp>
      <p:sp>
        <p:nvSpPr>
          <p:cNvPr id="22" name="Text 15"/>
          <p:cNvSpPr/>
          <p:nvPr/>
        </p:nvSpPr>
        <p:spPr>
          <a:xfrm>
            <a:off x="14634850" y="6880592"/>
            <a:ext cx="1076794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Importar do Delpro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4010025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12B · LOADING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4391025"/>
            <a:ext cx="745617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Sincronia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honesta.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343525"/>
            <a:ext cx="608266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em vez de spinner. Mostra exatamente o que vai aparecer, com progresso quando há volume relevante (&gt;3s).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503116" y="1168003"/>
            <a:ext cx="479531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08:47</a:t>
            </a:r>
            <a:endParaRPr lang="en-US" sz="112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13383102" y="1543050"/>
            <a:ext cx="3687860" cy="25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Sincronizando</a:t>
            </a:r>
            <a:endParaRPr lang="en-US" sz="1275" dirty="0"/>
          </a:p>
        </p:txBody>
      </p:sp>
      <p:sp>
        <p:nvSpPr>
          <p:cNvPr id="14" name="Text 10"/>
          <p:cNvSpPr/>
          <p:nvPr/>
        </p:nvSpPr>
        <p:spPr>
          <a:xfrm>
            <a:off x="13383102" y="1773079"/>
            <a:ext cx="3687860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50 vacas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819323">
            <a:off x="14509226" y="3994340"/>
            <a:ext cx="1328198" cy="1328199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93302" y="4478417"/>
            <a:ext cx="360045" cy="36004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315904" y="5358526"/>
            <a:ext cx="1714686" cy="268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Lendo coleiras…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4315904" y="5648563"/>
            <a:ext cx="1714686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broker.emqx.io · MQTT</a:t>
            </a:r>
            <a:endParaRPr lang="en-US" sz="975" dirty="0"/>
          </a:p>
        </p:txBody>
      </p:sp>
      <p:sp>
        <p:nvSpPr>
          <p:cNvPr id="19" name="Shape 13"/>
          <p:cNvSpPr/>
          <p:nvPr/>
        </p:nvSpPr>
        <p:spPr>
          <a:xfrm>
            <a:off x="13869100" y="6018609"/>
            <a:ext cx="2608294" cy="60008"/>
          </a:xfrm>
          <a:prstGeom prst="roundRect">
            <a:avLst>
              <a:gd name="adj" fmla="val 50000"/>
            </a:avLst>
          </a:prstGeom>
          <a:solidFill>
            <a:srgbClr val="2B2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4"/>
          <p:cNvSpPr/>
          <p:nvPr/>
        </p:nvSpPr>
        <p:spPr>
          <a:xfrm>
            <a:off x="13869100" y="6018609"/>
            <a:ext cx="886673" cy="60008"/>
          </a:xfrm>
          <a:prstGeom prst="roundRect">
            <a:avLst>
              <a:gd name="adj" fmla="val 5000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73150" y="6298645"/>
            <a:ext cx="140018" cy="14001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975081" y="6298645"/>
            <a:ext cx="869892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Conexão Wi-Fi</a:t>
            </a:r>
            <a:endParaRPr lang="en-US" sz="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73150" y="6538674"/>
            <a:ext cx="140018" cy="14001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975081" y="6538674"/>
            <a:ext cx="1103515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Sincronização NTP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 rot="-3961354">
            <a:off x="13819523" y="6858541"/>
            <a:ext cx="114300" cy="19050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18"/>
          <p:cNvSpPr/>
          <p:nvPr/>
        </p:nvSpPr>
        <p:spPr>
          <a:xfrm rot="-3961354">
            <a:off x="13732493" y="6819834"/>
            <a:ext cx="114300" cy="19050"/>
          </a:xfrm>
          <a:prstGeom prst="rect">
            <a:avLst/>
          </a:prstGeom>
          <a:solidFill>
            <a:srgbClr val="7DE2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19"/>
          <p:cNvSpPr/>
          <p:nvPr/>
        </p:nvSpPr>
        <p:spPr>
          <a:xfrm rot="-3961354">
            <a:off x="13804279" y="6835078"/>
            <a:ext cx="19050" cy="114300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0"/>
          <p:cNvSpPr/>
          <p:nvPr/>
        </p:nvSpPr>
        <p:spPr>
          <a:xfrm rot="-3961354">
            <a:off x="13842987" y="6748048"/>
            <a:ext cx="19050" cy="114300"/>
          </a:xfrm>
          <a:prstGeom prst="rect">
            <a:avLst/>
          </a:prstGeom>
          <a:solidFill>
            <a:srgbClr val="FFFAF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1"/>
          <p:cNvSpPr/>
          <p:nvPr/>
        </p:nvSpPr>
        <p:spPr>
          <a:xfrm>
            <a:off x="13955077" y="6778705"/>
            <a:ext cx="1130395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de sensores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13773150" y="7028736"/>
            <a:ext cx="120015" cy="120015"/>
          </a:xfrm>
          <a:prstGeom prst="ellipse">
            <a:avLst/>
          </a:prstGeom>
          <a:ln w="9525">
            <a:solidFill>
              <a:srgbClr val="FFFAFB">
                <a:alpha val="12000"/>
              </a:srgbClr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3"/>
          <p:cNvSpPr/>
          <p:nvPr/>
        </p:nvSpPr>
        <p:spPr>
          <a:xfrm>
            <a:off x="13955077" y="7018734"/>
            <a:ext cx="783477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IA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648075"/>
            <a:ext cx="745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12C · SEM CONEXÃO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4029075"/>
            <a:ext cx="74561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b="1" kern="0" spc="-15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é um </a:t>
            </a:r>
            <a:r>
              <a:rPr lang="en-US" sz="6000" b="1" kern="0" spc="-15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caso.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5705475"/>
            <a:ext cx="608266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8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RNFU3 + pré-parto remoto. Banner persistente, dados em cache e ação clara para tentar de novo.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223081" y="922973"/>
            <a:ext cx="3900488" cy="8441055"/>
          </a:xfrm>
          <a:prstGeom prst="roundRect">
            <a:avLst>
              <a:gd name="adj" fmla="val 11722"/>
            </a:avLst>
          </a:prstGeom>
          <a:solidFill>
            <a:srgbClr val="131515"/>
          </a:solidFill>
          <a:ln/>
          <a:effectLst>
            <a:outerShdw blurRad="101600" dist="50800" dir="16200000" algn="bl" rotWithShape="0">
              <a:srgbClr val="1A1C1C">
                <a:alpha val="10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573250" y="1032986"/>
            <a:ext cx="1200150" cy="34004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503116" y="1168003"/>
            <a:ext cx="479531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08:47</a:t>
            </a:r>
            <a:endParaRPr lang="en-US" sz="112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455" y="1188006"/>
            <a:ext cx="150019" cy="150019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481" y="1193006"/>
            <a:ext cx="140017" cy="14001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6623506" y="1208008"/>
            <a:ext cx="220027" cy="110014"/>
          </a:xfrm>
          <a:prstGeom prst="roundRect">
            <a:avLst>
              <a:gd name="adj" fmla="val 25974"/>
            </a:avLst>
          </a:prstGeom>
          <a:ln w="9525">
            <a:solidFill>
              <a:srgbClr val="FFF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16643509" y="1228011"/>
            <a:ext cx="140330" cy="70009"/>
          </a:xfrm>
          <a:prstGeom prst="roundRect">
            <a:avLst>
              <a:gd name="adj" fmla="val 13605"/>
            </a:avLst>
          </a:prstGeom>
          <a:solidFill>
            <a:srgbClr val="FFFA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3112" y="1623060"/>
            <a:ext cx="200025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23156" y="1613059"/>
            <a:ext cx="3234604" cy="25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conexão</a:t>
            </a:r>
            <a:endParaRPr lang="en-US" sz="1275" dirty="0"/>
          </a:p>
        </p:txBody>
      </p:sp>
      <p:sp>
        <p:nvSpPr>
          <p:cNvPr id="15" name="Shape 10"/>
          <p:cNvSpPr/>
          <p:nvPr/>
        </p:nvSpPr>
        <p:spPr>
          <a:xfrm>
            <a:off x="14693265" y="3935693"/>
            <a:ext cx="960120" cy="960120"/>
          </a:xfrm>
          <a:prstGeom prst="roundRect">
            <a:avLst>
              <a:gd name="adj" fmla="val 23810"/>
            </a:avLst>
          </a:prstGeom>
          <a:solidFill>
            <a:srgbClr val="E87C5C">
              <a:alpha val="16000"/>
            </a:srgbClr>
          </a:solidFill>
          <a:ln w="9525">
            <a:solidFill>
              <a:srgbClr val="E87C5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73300" y="4215728"/>
            <a:ext cx="400050" cy="40005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5463361" y="3885687"/>
            <a:ext cx="240031" cy="240030"/>
          </a:xfrm>
          <a:prstGeom prst="ellipse">
            <a:avLst/>
          </a:prstGeom>
          <a:solidFill>
            <a:srgbClr val="E87C5C"/>
          </a:solidFill>
          <a:ln w="28575">
            <a:solidFill>
              <a:srgbClr val="13151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2"/>
          <p:cNvSpPr/>
          <p:nvPr/>
        </p:nvSpPr>
        <p:spPr>
          <a:xfrm>
            <a:off x="15512147" y="3935693"/>
            <a:ext cx="142302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825" dirty="0"/>
          </a:p>
        </p:txBody>
      </p:sp>
      <p:sp>
        <p:nvSpPr>
          <p:cNvPr id="19" name="Text 13"/>
          <p:cNvSpPr/>
          <p:nvPr/>
        </p:nvSpPr>
        <p:spPr>
          <a:xfrm>
            <a:off x="13834158" y="5075836"/>
            <a:ext cx="2678335" cy="26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Coleira fora do ar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3834158" y="5365871"/>
            <a:ext cx="2678335" cy="603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975" dirty="0">
                <a:solidFill>
                  <a:srgbClr val="FFFAF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Mocinha #022 está no piquete de pré-parto, sem cobertura Wi-Fi. Os dados serão sincronizados ao retornar.</a:t>
            </a:r>
            <a:endParaRPr lang="en-US" sz="975" dirty="0"/>
          </a:p>
        </p:txBody>
      </p:sp>
      <p:sp>
        <p:nvSpPr>
          <p:cNvPr id="21" name="Shape 15"/>
          <p:cNvSpPr/>
          <p:nvPr/>
        </p:nvSpPr>
        <p:spPr>
          <a:xfrm>
            <a:off x="13673138" y="6111277"/>
            <a:ext cx="3000375" cy="620077"/>
          </a:xfrm>
          <a:prstGeom prst="roundRect">
            <a:avLst>
              <a:gd name="adj" fmla="val 24578"/>
            </a:avLst>
          </a:prstGeom>
          <a:solidFill>
            <a:srgbClr val="1B1D1D"/>
          </a:solidFill>
          <a:ln w="9525">
            <a:solidFill>
              <a:srgbClr val="FFFAFB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6"/>
          <p:cNvSpPr/>
          <p:nvPr/>
        </p:nvSpPr>
        <p:spPr>
          <a:xfrm>
            <a:off x="13803154" y="6241293"/>
            <a:ext cx="929900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sincronia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5895290" y="6241293"/>
            <a:ext cx="724406" cy="17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 22 min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3803154" y="6461321"/>
            <a:ext cx="674400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AFB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local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5679170" y="6461321"/>
            <a:ext cx="940526" cy="17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 leituras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13543121" y="6911377"/>
            <a:ext cx="1900238" cy="480060"/>
          </a:xfrm>
          <a:prstGeom prst="roundRect">
            <a:avLst>
              <a:gd name="adj" fmla="val 23810"/>
            </a:avLst>
          </a:prstGeom>
          <a:solidFill>
            <a:srgbClr val="33998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43146" y="7061396"/>
            <a:ext cx="174553" cy="18002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959610" y="6941381"/>
            <a:ext cx="1321824" cy="458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Tentar novamente</a:t>
            </a:r>
            <a:endParaRPr lang="en-US" sz="1125" dirty="0"/>
          </a:p>
        </p:txBody>
      </p:sp>
      <p:sp>
        <p:nvSpPr>
          <p:cNvPr id="29" name="Shape 22"/>
          <p:cNvSpPr/>
          <p:nvPr/>
        </p:nvSpPr>
        <p:spPr>
          <a:xfrm>
            <a:off x="15523369" y="6911377"/>
            <a:ext cx="1280160" cy="480060"/>
          </a:xfrm>
          <a:prstGeom prst="roundRect">
            <a:avLst>
              <a:gd name="adj" fmla="val 23810"/>
            </a:avLst>
          </a:prstGeom>
          <a:ln w="9525">
            <a:solidFill>
              <a:srgbClr val="FFFAF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3"/>
          <p:cNvSpPr/>
          <p:nvPr/>
        </p:nvSpPr>
        <p:spPr>
          <a:xfrm>
            <a:off x="15695295" y="6941381"/>
            <a:ext cx="936307" cy="458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detalhes</a:t>
            </a:r>
            <a:endParaRPr lang="en-US" sz="1125" dirty="0"/>
          </a:p>
        </p:txBody>
      </p:sp>
      <p:sp>
        <p:nvSpPr>
          <p:cNvPr id="31" name="Shape 24"/>
          <p:cNvSpPr/>
          <p:nvPr/>
        </p:nvSpPr>
        <p:spPr>
          <a:xfrm>
            <a:off x="14503241" y="9234011"/>
            <a:ext cx="1340167" cy="50006"/>
          </a:xfrm>
          <a:prstGeom prst="roundRect">
            <a:avLst>
              <a:gd name="adj" fmla="val 50000"/>
            </a:avLst>
          </a:prstGeom>
          <a:solidFill>
            <a:srgbClr val="FFFAF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1434405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D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Próximos passos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3255615"/>
            <a:ext cx="13735050" cy="284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0" b="1" kern="0" spc="-420" dirty="0">
                <a:solidFill>
                  <a:srgbClr val="FF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tela ao </a:t>
            </a:r>
            <a:r>
              <a:rPr lang="en-US" sz="12000" b="1" kern="0" spc="-420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protótipo.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7938046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B9C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Variações do Dashboard por papel · integração real do mapa · fluxo de pareamento de coleira · light mode · handoff em código.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29D25B8-EE6E-4BC9-B51D-329079B7D595}">
  <we:reference id="wa200010001" version="1.0.0.0" store="en-US" storeType="OMEX"/>
  <we:alternateReferences>
    <we:reference id="WA200010001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2661</Words>
  <Application>Microsoft Office PowerPoint</Application>
  <PresentationFormat>Personalizar</PresentationFormat>
  <Paragraphs>560</Paragraphs>
  <Slides>28</Slides>
  <Notes>28</Notes>
  <HiddenSlides>0</HiddenSlides>
  <MMClips>2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1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Jafte Carneiro Fagundes da Silva</cp:lastModifiedBy>
  <cp:revision>2</cp:revision>
  <dcterms:created xsi:type="dcterms:W3CDTF">2026-05-08T03:35:59Z</dcterms:created>
  <dcterms:modified xsi:type="dcterms:W3CDTF">2026-05-12T15:13:25Z</dcterms:modified>
</cp:coreProperties>
</file>